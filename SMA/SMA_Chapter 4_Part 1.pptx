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1" r:id="rId1"/>
  </p:sldMasterIdLst>
  <p:notesMasterIdLst>
    <p:notesMasterId r:id="rId61"/>
  </p:notesMasterIdLst>
  <p:sldIdLst>
    <p:sldId id="256" r:id="rId2"/>
    <p:sldId id="259" r:id="rId3"/>
    <p:sldId id="271" r:id="rId4"/>
    <p:sldId id="257" r:id="rId5"/>
    <p:sldId id="266" r:id="rId6"/>
    <p:sldId id="265" r:id="rId7"/>
    <p:sldId id="264" r:id="rId8"/>
    <p:sldId id="286" r:id="rId9"/>
    <p:sldId id="272" r:id="rId10"/>
    <p:sldId id="329" r:id="rId11"/>
    <p:sldId id="328" r:id="rId12"/>
    <p:sldId id="273" r:id="rId13"/>
    <p:sldId id="330" r:id="rId14"/>
    <p:sldId id="331" r:id="rId15"/>
    <p:sldId id="274" r:id="rId16"/>
    <p:sldId id="275" r:id="rId17"/>
    <p:sldId id="279" r:id="rId18"/>
    <p:sldId id="278" r:id="rId19"/>
    <p:sldId id="280" r:id="rId20"/>
    <p:sldId id="281" r:id="rId21"/>
    <p:sldId id="282" r:id="rId22"/>
    <p:sldId id="283" r:id="rId23"/>
    <p:sldId id="284" r:id="rId24"/>
    <p:sldId id="285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8" r:id="rId36"/>
    <p:sldId id="300" r:id="rId37"/>
    <p:sldId id="299" r:id="rId38"/>
    <p:sldId id="301" r:id="rId39"/>
    <p:sldId id="297" r:id="rId40"/>
    <p:sldId id="307" r:id="rId41"/>
    <p:sldId id="308" r:id="rId42"/>
    <p:sldId id="314" r:id="rId43"/>
    <p:sldId id="316" r:id="rId44"/>
    <p:sldId id="315" r:id="rId45"/>
    <p:sldId id="306" r:id="rId46"/>
    <p:sldId id="305" r:id="rId47"/>
    <p:sldId id="317" r:id="rId48"/>
    <p:sldId id="304" r:id="rId49"/>
    <p:sldId id="311" r:id="rId50"/>
    <p:sldId id="318" r:id="rId51"/>
    <p:sldId id="319" r:id="rId52"/>
    <p:sldId id="320" r:id="rId53"/>
    <p:sldId id="321" r:id="rId54"/>
    <p:sldId id="325" r:id="rId55"/>
    <p:sldId id="322" r:id="rId56"/>
    <p:sldId id="324" r:id="rId57"/>
    <p:sldId id="326" r:id="rId58"/>
    <p:sldId id="323" r:id="rId59"/>
    <p:sldId id="327" r:id="rId6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9EFF29"/>
    <a:srgbClr val="FF2549"/>
    <a:srgbClr val="007033"/>
    <a:srgbClr val="C33A1F"/>
    <a:srgbClr val="003635"/>
    <a:srgbClr val="D6370C"/>
    <a:srgbClr val="1D3A00"/>
    <a:srgbClr val="FF856D"/>
    <a:srgbClr val="0058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18" autoAdjust="0"/>
    <p:restoredTop sz="94660"/>
  </p:normalViewPr>
  <p:slideViewPr>
    <p:cSldViewPr snapToGrid="0">
      <p:cViewPr varScale="1">
        <p:scale>
          <a:sx n="92" d="100"/>
          <a:sy n="92" d="100"/>
        </p:scale>
        <p:origin x="714" y="66"/>
      </p:cViewPr>
      <p:guideLst>
        <p:guide orient="horz" pos="1620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4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64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18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50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23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700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621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606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986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923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969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6197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543092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tweepsmap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oogle.com/trends/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91490" y="3139806"/>
            <a:ext cx="4252510" cy="805383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            </a:t>
            </a:r>
            <a:r>
              <a:rPr lang="en-US" sz="6700" b="1" dirty="0" smtClean="0">
                <a:solidFill>
                  <a:schemeClr val="tx1"/>
                </a:solidFill>
              </a:rPr>
              <a:t>CO 4</a:t>
            </a:r>
            <a:r>
              <a:rPr lang="en-US" sz="4400" b="1" dirty="0" smtClean="0">
                <a:solidFill>
                  <a:schemeClr val="tx1"/>
                </a:solidFill>
              </a:rPr>
              <a:t/>
            </a:r>
            <a:br>
              <a:rPr lang="en-US" sz="4400" b="1" dirty="0" smtClean="0">
                <a:solidFill>
                  <a:schemeClr val="tx1"/>
                </a:solidFill>
              </a:rPr>
            </a:br>
            <a:r>
              <a:rPr lang="en-US" sz="4000" b="1" dirty="0" smtClean="0">
                <a:solidFill>
                  <a:schemeClr val="tx1"/>
                </a:solidFill>
              </a:rPr>
              <a:t>SOCIAL MEDIA LOCATION &amp; SEARCH ENGINE ANALYTICS</a:t>
            </a:r>
            <a:endParaRPr lang="en-US" sz="4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18046"/>
            <a:ext cx="8586952" cy="725349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LOCATION </a:t>
            </a:r>
            <a:r>
              <a:rPr lang="en-US" sz="4400" b="1" dirty="0" smtClean="0">
                <a:solidFill>
                  <a:schemeClr val="tx1"/>
                </a:solidFill>
              </a:rPr>
              <a:t>ANALYTICS OUTLINE</a:t>
            </a:r>
            <a:endParaRPr lang="en-US" sz="4400" b="1" dirty="0">
              <a:solidFill>
                <a:schemeClr val="tx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600" b="1" dirty="0" smtClean="0"/>
              <a:t>Sources of Location Data</a:t>
            </a:r>
          </a:p>
          <a:p>
            <a:r>
              <a:rPr lang="en-US" sz="3600" b="1" dirty="0" smtClean="0"/>
              <a:t>Categories of Location Analytics</a:t>
            </a:r>
          </a:p>
          <a:p>
            <a:r>
              <a:rPr lang="en-US" sz="3600" b="1" dirty="0" smtClean="0"/>
              <a:t>Privacy Concerns </a:t>
            </a:r>
          </a:p>
          <a:p>
            <a:r>
              <a:rPr lang="en-US" sz="3600" b="1" dirty="0" smtClean="0"/>
              <a:t>Location Analytics Tools</a:t>
            </a:r>
          </a:p>
          <a:p>
            <a:endParaRPr lang="en-US" sz="3600" b="1" dirty="0" smtClean="0"/>
          </a:p>
          <a:p>
            <a:endParaRPr lang="en-US" sz="9600" b="1" dirty="0"/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681" y="149881"/>
            <a:ext cx="8264064" cy="725349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tx1"/>
                </a:solidFill>
              </a:rPr>
              <a:t>SEARCH ENGINE </a:t>
            </a:r>
            <a:r>
              <a:rPr lang="en-US" sz="4000" b="1" dirty="0" smtClean="0">
                <a:solidFill>
                  <a:schemeClr val="tx1"/>
                </a:solidFill>
              </a:rPr>
              <a:t>ANALYTICS </a:t>
            </a:r>
            <a:r>
              <a:rPr lang="en-IN" sz="4000" b="1" dirty="0" smtClean="0">
                <a:solidFill>
                  <a:schemeClr val="tx1"/>
                </a:solidFill>
              </a:rPr>
              <a:t>OUTLINE</a:t>
            </a:r>
            <a:endParaRPr lang="en-IN" sz="40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Types of Search Engines</a:t>
            </a:r>
          </a:p>
          <a:p>
            <a:r>
              <a:rPr lang="en-US" sz="3600" b="1" dirty="0" smtClean="0"/>
              <a:t>Search Engine Analytics</a:t>
            </a:r>
          </a:p>
          <a:p>
            <a:r>
              <a:rPr lang="en-US" sz="3600" b="1" dirty="0" smtClean="0"/>
              <a:t>Search Engine Analytics Tools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1615839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b="1" dirty="0"/>
              <a:t>Sources of Location Data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0">
              <a:spcBef>
                <a:spcPts val="0"/>
              </a:spcBef>
              <a:buSzPts val="1800"/>
              <a:buChar char="●"/>
            </a:pPr>
            <a:r>
              <a:rPr lang="en-US" sz="3600" b="1" dirty="0"/>
              <a:t>Postal Address</a:t>
            </a:r>
          </a:p>
          <a:p>
            <a:pPr marL="457200" lvl="0">
              <a:spcBef>
                <a:spcPts val="0"/>
              </a:spcBef>
              <a:buSzPts val="1800"/>
              <a:buChar char="●"/>
            </a:pPr>
            <a:r>
              <a:rPr lang="en-US" sz="3600" b="1" dirty="0"/>
              <a:t>Latitude Longitude</a:t>
            </a:r>
          </a:p>
          <a:p>
            <a:pPr marL="457200" lvl="0">
              <a:spcBef>
                <a:spcPts val="0"/>
              </a:spcBef>
              <a:buSzPts val="1800"/>
              <a:buChar char="●"/>
            </a:pPr>
            <a:r>
              <a:rPr lang="en-US" sz="3600" b="1" dirty="0"/>
              <a:t>GPS-based</a:t>
            </a:r>
          </a:p>
          <a:p>
            <a:pPr marL="457200" lvl="0">
              <a:spcBef>
                <a:spcPts val="0"/>
              </a:spcBef>
              <a:buSzPts val="1800"/>
              <a:buChar char="●"/>
            </a:pPr>
            <a:r>
              <a:rPr lang="en-US" sz="3600" b="1" dirty="0"/>
              <a:t>IP-based</a:t>
            </a:r>
          </a:p>
          <a:p>
            <a:pPr marL="457200" lvl="0" indent="0">
              <a:spcBef>
                <a:spcPts val="1200"/>
              </a:spcBef>
              <a:spcAft>
                <a:spcPts val="1200"/>
              </a:spcAft>
              <a:buNone/>
            </a:pPr>
            <a:endParaRPr lang="en-US" sz="8000" b="1" dirty="0"/>
          </a:p>
          <a:p>
            <a:pPr marL="0" indent="0" algn="ctr">
              <a:buNone/>
            </a:pPr>
            <a:endParaRPr lang="en-US" sz="8000" b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2608" y="1409954"/>
            <a:ext cx="3042168" cy="346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224337"/>
            <a:ext cx="8657304" cy="763526"/>
          </a:xfrm>
        </p:spPr>
        <p:txBody>
          <a:bodyPr/>
          <a:lstStyle/>
          <a:p>
            <a:r>
              <a:rPr lang="en" b="1" dirty="0"/>
              <a:t>Location Analytics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78676" y="1216742"/>
            <a:ext cx="9322676" cy="3561734"/>
          </a:xfrm>
        </p:spPr>
        <p:txBody>
          <a:bodyPr>
            <a:noAutofit/>
          </a:bodyPr>
          <a:lstStyle/>
          <a:p>
            <a:pPr marL="457200" lvl="0" algn="just">
              <a:spcBef>
                <a:spcPts val="0"/>
              </a:spcBef>
              <a:buSzPts val="1800"/>
              <a:buFont typeface="Roboto"/>
              <a:buChar char="●"/>
            </a:pPr>
            <a:r>
              <a:rPr lang="en-US" sz="2400" b="1" dirty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Location analytics, also known as spatial analysis or geo-analytics, involves mapping, visualizing, and mining the location of people, data, and other resources.</a:t>
            </a:r>
          </a:p>
          <a:p>
            <a:pPr marL="457200" lvl="0" algn="just">
              <a:spcBef>
                <a:spcPts val="0"/>
              </a:spcBef>
              <a:buSzPts val="1800"/>
              <a:buFont typeface="Roboto"/>
              <a:buChar char="●"/>
            </a:pPr>
            <a:r>
              <a:rPr lang="en-US" sz="2400" b="1" dirty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GPS-enabled mobile devices make it possible to provide location-based services, products, and information.</a:t>
            </a:r>
          </a:p>
          <a:p>
            <a:pPr marL="457200" lvl="0" algn="just">
              <a:spcBef>
                <a:spcPts val="0"/>
              </a:spcBef>
              <a:buSzPts val="1800"/>
              <a:buFont typeface="Roboto"/>
              <a:buChar char="●"/>
            </a:pPr>
            <a:r>
              <a:rPr lang="en-US" sz="2400" b="1" dirty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Location analytics can be used in various sectors and can be instrumental in understanding cities and human behaviors in space and time.</a:t>
            </a:r>
          </a:p>
          <a:p>
            <a:pPr marL="457200" lvl="0" algn="just">
              <a:spcBef>
                <a:spcPts val="0"/>
              </a:spcBef>
              <a:buSzPts val="1800"/>
              <a:buFont typeface="Roboto"/>
              <a:buChar char="●"/>
            </a:pPr>
            <a:r>
              <a:rPr lang="en-US" sz="2400" b="1" dirty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An example of location analytics is the use of geo-located Twitter data to study </a:t>
            </a:r>
            <a:r>
              <a:rPr lang="en-US" sz="2400" b="1" dirty="0">
                <a:latin typeface="+mj-lt"/>
                <a:ea typeface="Roboto"/>
                <a:cs typeface="Roboto"/>
                <a:sym typeface="Roboto"/>
              </a:rPr>
              <a:t>of New York City (</a:t>
            </a:r>
            <a:r>
              <a:rPr lang="en-US" sz="2400" b="1" dirty="0" err="1">
                <a:latin typeface="+mj-lt"/>
                <a:ea typeface="Roboto"/>
                <a:cs typeface="Roboto"/>
                <a:sym typeface="Roboto"/>
              </a:rPr>
              <a:t>França</a:t>
            </a:r>
            <a:r>
              <a:rPr lang="en-US" sz="2400" b="1" dirty="0">
                <a:latin typeface="+mj-lt"/>
                <a:ea typeface="Roboto"/>
                <a:cs typeface="Roboto"/>
                <a:sym typeface="Roboto"/>
              </a:rPr>
              <a:t>, </a:t>
            </a:r>
            <a:r>
              <a:rPr lang="en-US" sz="2400" b="1" dirty="0" err="1">
                <a:latin typeface="+mj-lt"/>
                <a:ea typeface="Roboto"/>
                <a:cs typeface="Roboto"/>
                <a:sym typeface="Roboto"/>
              </a:rPr>
              <a:t>Sayama</a:t>
            </a:r>
            <a:r>
              <a:rPr lang="en-US" sz="2400" b="1" dirty="0">
                <a:latin typeface="+mj-lt"/>
                <a:ea typeface="Roboto"/>
                <a:cs typeface="Roboto"/>
                <a:sym typeface="Roboto"/>
              </a:rPr>
              <a:t> et al. 2015)</a:t>
            </a:r>
            <a:r>
              <a:rPr lang="en-US" sz="2400" b="1" dirty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 the "heartbeat" dataset of a city and map its dynamics.</a:t>
            </a:r>
          </a:p>
          <a:p>
            <a:pPr marL="457200" lvl="0" indent="0" algn="just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dirty="0">
              <a:latin typeface="+mj-lt"/>
            </a:endParaRPr>
          </a:p>
          <a:p>
            <a:pPr algn="just"/>
            <a:endParaRPr lang="en-IN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07510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054" y="224337"/>
            <a:ext cx="4790739" cy="763526"/>
          </a:xfrm>
        </p:spPr>
        <p:txBody>
          <a:bodyPr>
            <a:normAutofit fontScale="90000"/>
          </a:bodyPr>
          <a:lstStyle/>
          <a:p>
            <a:r>
              <a:rPr lang="en" b="1" dirty="0"/>
              <a:t>Categories of Location Analytics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marR="100330" lvl="0" indent="-381000" algn="just">
              <a:lnSpc>
                <a:spcPct val="102916"/>
              </a:lnSpc>
              <a:spcBef>
                <a:spcPts val="60"/>
              </a:spcBef>
              <a:buSzPts val="2400"/>
              <a:buChar char="●"/>
            </a:pPr>
            <a:r>
              <a:rPr lang="en-US" b="1" dirty="0">
                <a:latin typeface="+mj-lt"/>
                <a:ea typeface="Times New Roman"/>
                <a:cs typeface="Times New Roman"/>
                <a:sym typeface="Times New Roman"/>
              </a:rPr>
              <a:t>Based on its scope, location analytics can be broadly classified into two categories:</a:t>
            </a:r>
          </a:p>
          <a:p>
            <a:pPr marL="457200" marR="100330" lvl="0" indent="0" algn="just">
              <a:lnSpc>
                <a:spcPct val="102916"/>
              </a:lnSpc>
              <a:spcBef>
                <a:spcPts val="60"/>
              </a:spcBef>
              <a:buNone/>
            </a:pPr>
            <a:endParaRPr lang="en-US" b="1" dirty="0">
              <a:latin typeface="+mj-lt"/>
              <a:ea typeface="Times New Roman"/>
              <a:cs typeface="Times New Roman"/>
              <a:sym typeface="Times New Roman"/>
            </a:endParaRPr>
          </a:p>
          <a:p>
            <a:pPr marL="457200" marR="100330" lvl="0" indent="0" algn="just">
              <a:lnSpc>
                <a:spcPct val="102916"/>
              </a:lnSpc>
              <a:spcBef>
                <a:spcPts val="60"/>
              </a:spcBef>
              <a:buNone/>
            </a:pPr>
            <a:r>
              <a:rPr lang="en-US" b="1" dirty="0">
                <a:latin typeface="+mj-lt"/>
                <a:ea typeface="Times New Roman"/>
                <a:cs typeface="Times New Roman"/>
                <a:sym typeface="Times New Roman"/>
              </a:rPr>
              <a:t> 1) Business data-driven location analytics </a:t>
            </a:r>
          </a:p>
          <a:p>
            <a:pPr marL="457200" marR="100330" lvl="0" indent="0" algn="just">
              <a:lnSpc>
                <a:spcPct val="102916"/>
              </a:lnSpc>
              <a:spcBef>
                <a:spcPts val="60"/>
              </a:spcBef>
              <a:buNone/>
            </a:pPr>
            <a:r>
              <a:rPr lang="en-US" b="1" dirty="0">
                <a:latin typeface="+mj-lt"/>
                <a:ea typeface="Times New Roman"/>
                <a:cs typeface="Times New Roman"/>
                <a:sym typeface="Times New Roman"/>
              </a:rPr>
              <a:t> 2) Social media data- driven location analytics.</a:t>
            </a:r>
          </a:p>
          <a:p>
            <a:pPr marL="457200" lvl="0" indent="0" algn="just">
              <a:spcBef>
                <a:spcPts val="0"/>
              </a:spcBef>
              <a:spcAft>
                <a:spcPts val="1200"/>
              </a:spcAft>
              <a:buNone/>
            </a:pPr>
            <a:endParaRPr lang="en-US" b="1" dirty="0">
              <a:latin typeface="+mj-lt"/>
            </a:endParaRPr>
          </a:p>
          <a:p>
            <a:pPr algn="just"/>
            <a:endParaRPr lang="en-IN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28180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4545" y="224337"/>
            <a:ext cx="4471249" cy="763526"/>
          </a:xfrm>
        </p:spPr>
        <p:txBody>
          <a:bodyPr>
            <a:noAutofit/>
          </a:bodyPr>
          <a:lstStyle/>
          <a:p>
            <a:r>
              <a:rPr lang="en" sz="3200" b="1" dirty="0"/>
              <a:t>Business Driven Location Analytics</a:t>
            </a:r>
            <a:endParaRPr lang="en-IN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0" algn="just">
              <a:spcBef>
                <a:spcPts val="0"/>
              </a:spcBef>
              <a:buClr>
                <a:srgbClr val="374151"/>
              </a:buClr>
              <a:buSzPts val="1800"/>
              <a:buFont typeface="Roboto"/>
              <a:buChar char="●"/>
            </a:pPr>
            <a:r>
              <a:rPr lang="en-US" b="1" dirty="0">
                <a:solidFill>
                  <a:srgbClr val="374151"/>
                </a:solidFill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B</a:t>
            </a:r>
            <a:r>
              <a:rPr lang="en-US" b="1" dirty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usiness data-driven location analytics involves mapping, visualizing, and mining location data to reveal patterns and trends in business data.</a:t>
            </a:r>
          </a:p>
          <a:p>
            <a:pPr marL="457200" lvl="0" algn="just">
              <a:spcBef>
                <a:spcPts val="0"/>
              </a:spcBef>
              <a:buSzPts val="1800"/>
              <a:buFont typeface="Roboto"/>
              <a:buChar char="●"/>
            </a:pPr>
            <a:r>
              <a:rPr lang="en-US" b="1" dirty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By capitalizing on data stored in a business database, location analytics can provide location-specific information, products, and services based on where customers are.</a:t>
            </a:r>
          </a:p>
          <a:p>
            <a:pPr marL="457200" lvl="0" algn="just">
              <a:spcBef>
                <a:spcPts val="0"/>
              </a:spcBef>
              <a:buSzPts val="1800"/>
              <a:buFont typeface="Roboto"/>
              <a:buChar char="●"/>
            </a:pPr>
            <a:r>
              <a:rPr lang="en-US" b="1" dirty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Examples of how this can be </a:t>
            </a:r>
            <a:r>
              <a:rPr lang="en-US" b="1" dirty="0" smtClean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used, </a:t>
            </a:r>
            <a:r>
              <a:rPr lang="en-US" b="1" dirty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include recommending the nearest </a:t>
            </a:r>
            <a:r>
              <a:rPr lang="en-US" b="1" dirty="0" smtClean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convenient </a:t>
            </a:r>
            <a:r>
              <a:rPr lang="en-US" b="1" dirty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store or taxi, or making decisions about the best potential location for a business warehouse.</a:t>
            </a:r>
          </a:p>
          <a:p>
            <a:pPr marL="457200" lvl="0" indent="0" algn="just">
              <a:spcBef>
                <a:spcPts val="0"/>
              </a:spcBef>
              <a:spcAft>
                <a:spcPts val="1200"/>
              </a:spcAft>
              <a:buNone/>
            </a:pPr>
            <a:endParaRPr lang="en-US" b="1" dirty="0">
              <a:latin typeface="+mj-lt"/>
            </a:endParaRPr>
          </a:p>
          <a:p>
            <a:pPr algn="just"/>
            <a:endParaRPr lang="en-IN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74995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Revision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What is Location Analytics?</a:t>
            </a:r>
          </a:p>
          <a:p>
            <a:r>
              <a:rPr lang="en-US" b="1" dirty="0" smtClean="0"/>
              <a:t>Sources of Location Data-4</a:t>
            </a:r>
          </a:p>
          <a:p>
            <a:r>
              <a:rPr lang="en-US" b="1" dirty="0" smtClean="0"/>
              <a:t>Categories of Location Analytics -2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959587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84083"/>
            <a:ext cx="8657304" cy="1156138"/>
          </a:xfrm>
        </p:spPr>
        <p:txBody>
          <a:bodyPr>
            <a:normAutofit fontScale="90000"/>
          </a:bodyPr>
          <a:lstStyle/>
          <a:p>
            <a:pPr algn="l"/>
            <a:r>
              <a:rPr lang="en" b="1" dirty="0" smtClean="0">
                <a:solidFill>
                  <a:schemeClr val="tx2"/>
                </a:solidFill>
              </a:rPr>
              <a:t>                                                </a:t>
            </a:r>
            <a:br>
              <a:rPr lang="en" b="1" dirty="0" smtClean="0">
                <a:solidFill>
                  <a:schemeClr val="tx2"/>
                </a:solidFill>
              </a:rPr>
            </a:br>
            <a:r>
              <a:rPr lang="en" b="1" dirty="0">
                <a:solidFill>
                  <a:schemeClr val="tx2"/>
                </a:solidFill>
              </a:rPr>
              <a:t>	</a:t>
            </a:r>
            <a:r>
              <a:rPr lang="en" b="1" dirty="0" smtClean="0">
                <a:solidFill>
                  <a:schemeClr val="tx2"/>
                </a:solidFill>
              </a:rPr>
              <a:t>				Applications </a:t>
            </a:r>
            <a:r>
              <a:rPr lang="en" b="1" dirty="0">
                <a:solidFill>
                  <a:schemeClr val="tx2"/>
                </a:solidFill>
              </a:rPr>
              <a:t>of </a:t>
            </a:r>
            <a:r>
              <a:rPr lang="en" b="1" dirty="0" smtClean="0">
                <a:solidFill>
                  <a:schemeClr val="tx2"/>
                </a:solidFill>
              </a:rPr>
              <a:t>							Business </a:t>
            </a:r>
            <a:r>
              <a:rPr lang="en" b="1" dirty="0">
                <a:solidFill>
                  <a:schemeClr val="tx2"/>
                </a:solidFill>
              </a:rPr>
              <a:t>Data Driven </a:t>
            </a:r>
            <a:r>
              <a:rPr lang="en" b="1" dirty="0" smtClean="0">
                <a:solidFill>
                  <a:schemeClr val="tx2"/>
                </a:solidFill>
              </a:rPr>
              <a:t>						Location </a:t>
            </a:r>
            <a:r>
              <a:rPr lang="en" b="1" dirty="0">
                <a:solidFill>
                  <a:schemeClr val="tx2"/>
                </a:solidFill>
              </a:rPr>
              <a:t>Analytics</a:t>
            </a:r>
            <a:r>
              <a:rPr lang="en-US" b="1" dirty="0"/>
              <a:t/>
            </a:r>
            <a:br>
              <a:rPr lang="en-US" b="1" dirty="0"/>
            </a:br>
            <a:endParaRPr lang="en-IN" b="1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36634" y="1145628"/>
            <a:ext cx="9280634" cy="3878317"/>
          </a:xfrm>
        </p:spPr>
        <p:txBody>
          <a:bodyPr>
            <a:noAutofit/>
          </a:bodyPr>
          <a:lstStyle/>
          <a:p>
            <a:pPr marL="457200" lvl="0" algn="just">
              <a:spcBef>
                <a:spcPts val="0"/>
              </a:spcBef>
              <a:buSzPts val="1800"/>
              <a:buChar char="●"/>
            </a:pPr>
            <a:r>
              <a:rPr lang="en-US" sz="2400" b="1" dirty="0" smtClean="0">
                <a:latin typeface="+mj-lt"/>
              </a:rPr>
              <a:t>Powerful </a:t>
            </a:r>
            <a:r>
              <a:rPr lang="en-US" sz="2400" b="1" dirty="0">
                <a:latin typeface="+mj-lt"/>
              </a:rPr>
              <a:t>Intelligence</a:t>
            </a:r>
          </a:p>
          <a:p>
            <a:pPr marL="914400" lvl="1" indent="-317500" algn="just">
              <a:spcBef>
                <a:spcPts val="0"/>
              </a:spcBef>
              <a:buSzPts val="1400"/>
              <a:buChar char="○"/>
            </a:pPr>
            <a:r>
              <a:rPr lang="en-US" sz="2000" b="1" dirty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Simple maps can be useful, </a:t>
            </a:r>
          </a:p>
          <a:p>
            <a:pPr marL="914400" lvl="1" indent="-317500" algn="just">
              <a:spcBef>
                <a:spcPts val="0"/>
              </a:spcBef>
              <a:buSzPts val="1400"/>
              <a:buChar char="○"/>
            </a:pPr>
            <a:r>
              <a:rPr lang="en-US" sz="2000" b="1" dirty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 sophisticated mapping techniques like</a:t>
            </a:r>
          </a:p>
          <a:p>
            <a:pPr marL="1371600" lvl="2" indent="-317500" algn="just">
              <a:spcBef>
                <a:spcPts val="0"/>
              </a:spcBef>
              <a:buSzPts val="1400"/>
              <a:buChar char="■"/>
            </a:pPr>
            <a:r>
              <a:rPr lang="en-US" sz="1800" b="1" dirty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Clustering, </a:t>
            </a:r>
          </a:p>
          <a:p>
            <a:pPr marL="1371600" lvl="2" indent="-317500" algn="just">
              <a:spcBef>
                <a:spcPts val="0"/>
              </a:spcBef>
              <a:buSzPts val="1400"/>
              <a:buChar char="■"/>
            </a:pPr>
            <a:r>
              <a:rPr lang="en-US" sz="1800" b="1" dirty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Heat mapping, </a:t>
            </a:r>
          </a:p>
          <a:p>
            <a:pPr marL="1371600" lvl="2" indent="-317500" algn="just">
              <a:spcBef>
                <a:spcPts val="0"/>
              </a:spcBef>
              <a:buSzPts val="1400"/>
              <a:buChar char="■"/>
            </a:pPr>
            <a:r>
              <a:rPr lang="en-US" sz="1800" b="1" dirty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Data aggregation</a:t>
            </a:r>
          </a:p>
          <a:p>
            <a:pPr marL="1371600" lvl="2" indent="-317500" algn="just">
              <a:spcBef>
                <a:spcPts val="0"/>
              </a:spcBef>
              <a:buSzPts val="1400"/>
              <a:buChar char="■"/>
            </a:pPr>
            <a:r>
              <a:rPr lang="en-US" sz="1800" b="1" dirty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 Color-coded mapping can provide more detailed and insightful business intelligence</a:t>
            </a:r>
            <a:r>
              <a:rPr lang="en-US" sz="1800" b="1" dirty="0" smtClean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.</a:t>
            </a:r>
          </a:p>
          <a:p>
            <a:pPr marL="457200" lvl="0" algn="just">
              <a:spcBef>
                <a:spcPts val="0"/>
              </a:spcBef>
              <a:buSzPts val="1800"/>
              <a:buChar char="●"/>
            </a:pPr>
            <a:r>
              <a:rPr lang="en-US" sz="2400" b="1" dirty="0"/>
              <a:t>Geo Enrichment</a:t>
            </a:r>
          </a:p>
          <a:p>
            <a:pPr marL="914400" lvl="1" indent="-342900" algn="just">
              <a:spcBef>
                <a:spcPts val="0"/>
              </a:spcBef>
              <a:buSzPts val="1800"/>
              <a:buChar char="○"/>
            </a:pPr>
            <a:r>
              <a:rPr lang="en-US" sz="1600" b="1" dirty="0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Simple data maps can be enhanced with customer information such as demographics, spending habits, lifestyle, and location. </a:t>
            </a:r>
          </a:p>
          <a:p>
            <a:pPr marL="914400" lvl="1" indent="-342900" algn="just">
              <a:spcBef>
                <a:spcPts val="0"/>
              </a:spcBef>
              <a:buSzPts val="1800"/>
              <a:buChar char="○"/>
            </a:pPr>
            <a:r>
              <a:rPr lang="en-US" sz="1600" b="1" dirty="0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This can help to answer questions such as where a company's loyal customers spend most of their time.</a:t>
            </a:r>
            <a:endParaRPr lang="en-US" sz="1600" b="1" dirty="0"/>
          </a:p>
          <a:p>
            <a:pPr marL="1371600" lvl="2" indent="-317500" algn="just">
              <a:spcBef>
                <a:spcPts val="0"/>
              </a:spcBef>
              <a:buSzPts val="1400"/>
              <a:buChar char="■"/>
            </a:pPr>
            <a:endParaRPr lang="en-US" sz="2000" b="1" dirty="0">
              <a:latin typeface="+mj-lt"/>
            </a:endParaRPr>
          </a:p>
          <a:p>
            <a:pPr algn="just"/>
            <a:endParaRPr lang="en-US" sz="2400" b="1" dirty="0" smtClean="0">
              <a:latin typeface="+mj-lt"/>
            </a:endParaRPr>
          </a:p>
          <a:p>
            <a:pPr algn="just"/>
            <a:endParaRPr lang="en-IN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87213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of a Heat Map</a:t>
            </a:r>
            <a:endParaRPr lang="en-US" dirty="0"/>
          </a:p>
        </p:txBody>
      </p:sp>
      <p:pic>
        <p:nvPicPr>
          <p:cNvPr id="1026" name="Picture 2" descr="heat_example_table_and_heat_map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418" y="1465243"/>
            <a:ext cx="7138930" cy="3128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2839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Popular </a:t>
            </a:r>
            <a:r>
              <a:rPr 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HeatMap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3000" dirty="0" err="1"/>
              <a:t>Hotjar</a:t>
            </a:r>
            <a:r>
              <a:rPr lang="en-US" sz="3000" dirty="0"/>
              <a:t>.</a:t>
            </a:r>
          </a:p>
          <a:p>
            <a:r>
              <a:rPr lang="en-US" sz="3000" dirty="0"/>
              <a:t>VWO.</a:t>
            </a:r>
          </a:p>
          <a:p>
            <a:r>
              <a:rPr lang="en-US" sz="3000" dirty="0" err="1"/>
              <a:t>Mouseflow</a:t>
            </a:r>
            <a:r>
              <a:rPr lang="en-US" sz="3000" dirty="0"/>
              <a:t>.</a:t>
            </a:r>
          </a:p>
          <a:p>
            <a:r>
              <a:rPr lang="en-US" sz="3000" dirty="0" err="1"/>
              <a:t>Smartlook</a:t>
            </a:r>
            <a:r>
              <a:rPr lang="en-US" sz="3000" dirty="0"/>
              <a:t>.</a:t>
            </a:r>
          </a:p>
          <a:p>
            <a:r>
              <a:rPr lang="en-US" sz="3000" dirty="0" err="1"/>
              <a:t>Plerdy</a:t>
            </a:r>
            <a:r>
              <a:rPr lang="en-US" sz="3000" dirty="0"/>
              <a:t>.</a:t>
            </a:r>
          </a:p>
          <a:p>
            <a:r>
              <a:rPr lang="en-US" sz="3000" dirty="0"/>
              <a:t>Lucky Orange.</a:t>
            </a:r>
          </a:p>
          <a:p>
            <a:r>
              <a:rPr lang="en-US" sz="3000" dirty="0" err="1"/>
              <a:t>Heatmapper</a:t>
            </a:r>
            <a:r>
              <a:rPr lang="en-US" sz="3000" dirty="0"/>
              <a:t>.</a:t>
            </a:r>
          </a:p>
          <a:p>
            <a:r>
              <a:rPr lang="en-US" sz="3000" dirty="0" err="1"/>
              <a:t>Glassbox</a:t>
            </a:r>
            <a:r>
              <a:rPr lang="en-US" sz="3000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439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Applications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714" y="1216742"/>
            <a:ext cx="8246070" cy="3926758"/>
          </a:xfrm>
        </p:spPr>
        <p:txBody>
          <a:bodyPr>
            <a:normAutofit/>
          </a:bodyPr>
          <a:lstStyle/>
          <a:p>
            <a:pPr marL="457200" lvl="0" algn="just">
              <a:spcBef>
                <a:spcPts val="0"/>
              </a:spcBef>
              <a:buSzPts val="1800"/>
              <a:buChar char="●"/>
            </a:pPr>
            <a:r>
              <a:rPr lang="en-US" sz="3000" b="1" dirty="0"/>
              <a:t>Collaboration and Sharing</a:t>
            </a:r>
          </a:p>
          <a:p>
            <a:pPr marL="914400" lvl="1" indent="-317500" algn="just">
              <a:spcBef>
                <a:spcPts val="0"/>
              </a:spcBef>
              <a:buClr>
                <a:srgbClr val="374151"/>
              </a:buClr>
              <a:buSzPts val="1400"/>
              <a:buFont typeface="Roboto"/>
              <a:buChar char="○"/>
            </a:pPr>
            <a:r>
              <a:rPr lang="en-US" sz="2200" b="1" dirty="0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Maps are easy to understand and are useful for communication and collaboration within an organization.</a:t>
            </a:r>
          </a:p>
          <a:p>
            <a:pPr marL="914400" lvl="1" indent="-317500" algn="just">
              <a:spcBef>
                <a:spcPts val="0"/>
              </a:spcBef>
              <a:buClr>
                <a:srgbClr val="374151"/>
              </a:buClr>
              <a:buSzPts val="1400"/>
              <a:buFont typeface="Roboto"/>
              <a:buChar char="○"/>
            </a:pPr>
            <a:r>
              <a:rPr lang="en-US" sz="2200" b="1" dirty="0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Location analytics can be used to map business data for collaboration and information sharing with customers.</a:t>
            </a:r>
          </a:p>
          <a:p>
            <a:pPr marL="914400" lvl="1" indent="-317500" algn="just">
              <a:spcBef>
                <a:spcPts val="0"/>
              </a:spcBef>
              <a:buClr>
                <a:srgbClr val="374151"/>
              </a:buClr>
              <a:buSzPts val="1400"/>
              <a:buFont typeface="Roboto"/>
              <a:buChar char="○"/>
            </a:pPr>
            <a:r>
              <a:rPr lang="en-US" sz="2200" b="1" dirty="0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Business data -Google Fusion Tables,  allows for the creation of maps, tables, and charts.</a:t>
            </a:r>
          </a:p>
          <a:p>
            <a:pPr marL="914400" lvl="1" indent="-317500" algn="just">
              <a:spcBef>
                <a:spcPts val="0"/>
              </a:spcBef>
              <a:buSzPts val="1400"/>
              <a:buChar char="○"/>
            </a:pPr>
            <a:endParaRPr lang="en-US" b="1" dirty="0"/>
          </a:p>
          <a:p>
            <a:pPr algn="just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869998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Google-Fusion Tables</a:t>
            </a:r>
            <a:endParaRPr lang="en-US" dirty="0"/>
          </a:p>
        </p:txBody>
      </p:sp>
      <p:pic>
        <p:nvPicPr>
          <p:cNvPr id="2056" name="Picture 8" descr="Google Maps Platform: Five Great Fusion Tables + Maps Example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68675" y="1370013"/>
            <a:ext cx="5206649" cy="3262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2964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Google-Fusion Tables</a:t>
            </a:r>
          </a:p>
        </p:txBody>
      </p:sp>
      <p:pic>
        <p:nvPicPr>
          <p:cNvPr id="3074" name="Picture 2" descr="Débuter avec Google Fusion Tables et Open Data - data.gouv.fr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61514" y="1370013"/>
            <a:ext cx="6220972" cy="3262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26252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224337"/>
            <a:ext cx="8730876" cy="763526"/>
          </a:xfrm>
        </p:spPr>
        <p:txBody>
          <a:bodyPr>
            <a:normAutofit fontScale="90000"/>
          </a:bodyPr>
          <a:lstStyle/>
          <a:p>
            <a:r>
              <a:rPr lang="en" b="1" dirty="0"/>
              <a:t> </a:t>
            </a:r>
            <a:r>
              <a:rPr lang="en" b="1" dirty="0" smtClean="0"/>
              <a:t>           Social </a:t>
            </a:r>
            <a:r>
              <a:rPr lang="en" b="1" dirty="0"/>
              <a:t>Media Data Driven </a:t>
            </a:r>
            <a:r>
              <a:rPr lang="en" b="1" dirty="0" smtClean="0"/>
              <a:t/>
            </a:r>
            <a:br>
              <a:rPr lang="en" b="1" dirty="0" smtClean="0"/>
            </a:br>
            <a:r>
              <a:rPr lang="en" b="1" dirty="0" smtClean="0"/>
              <a:t>Location </a:t>
            </a:r>
            <a:r>
              <a:rPr lang="en" b="1" dirty="0"/>
              <a:t>Analytics 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996" y="1174700"/>
            <a:ext cx="8764369" cy="3968800"/>
          </a:xfrm>
        </p:spPr>
        <p:txBody>
          <a:bodyPr>
            <a:noAutofit/>
          </a:bodyPr>
          <a:lstStyle/>
          <a:p>
            <a:pPr marL="457200" lvl="0" indent="-317500" algn="just">
              <a:spcBef>
                <a:spcPts val="0"/>
              </a:spcBef>
              <a:buSzPts val="1400"/>
              <a:buFont typeface="Roboto"/>
              <a:buChar char="●"/>
            </a:pPr>
            <a:r>
              <a:rPr lang="en-US" sz="1600" b="1" dirty="0">
                <a:ea typeface="Roboto"/>
                <a:cs typeface="Roboto"/>
                <a:sym typeface="Roboto"/>
              </a:rPr>
              <a:t>Recommendation Purposes</a:t>
            </a:r>
          </a:p>
          <a:p>
            <a:pPr marL="457200" lvl="0" indent="-317500" algn="just">
              <a:spcBef>
                <a:spcPts val="0"/>
              </a:spcBef>
              <a:buSzPts val="1400"/>
              <a:buChar char="●"/>
            </a:pPr>
            <a:r>
              <a:rPr lang="en-US" sz="1600" b="1" dirty="0">
                <a:ea typeface="Roboto"/>
                <a:cs typeface="Roboto"/>
                <a:sym typeface="Roboto"/>
              </a:rPr>
              <a:t>Customer Segmentation -Tweepsmap (</a:t>
            </a:r>
            <a:r>
              <a:rPr lang="en-US" sz="1600" b="1" dirty="0">
                <a:uFill>
                  <a:noFill/>
                </a:uFill>
                <a:ea typeface="Roboto"/>
                <a:cs typeface="Roboto"/>
                <a:sym typeface="Roboto"/>
                <a:hlinkClick r:id="rId3"/>
              </a:rPr>
              <a:t>https://tweepsmap.com/</a:t>
            </a:r>
            <a:r>
              <a:rPr lang="en-US" sz="1600" b="1" dirty="0">
                <a:ea typeface="Roboto"/>
                <a:cs typeface="Roboto"/>
                <a:sym typeface="Roboto"/>
              </a:rPr>
              <a:t>), can be used to geo-locate your Twitter followers by </a:t>
            </a:r>
            <a:r>
              <a:rPr lang="en-US" sz="1600" b="1" dirty="0" smtClean="0">
                <a:ea typeface="Roboto"/>
                <a:cs typeface="Roboto"/>
                <a:sym typeface="Roboto"/>
              </a:rPr>
              <a:t>country, state </a:t>
            </a:r>
            <a:r>
              <a:rPr lang="en-US" sz="1600" b="1" dirty="0">
                <a:ea typeface="Roboto"/>
                <a:cs typeface="Roboto"/>
                <a:sym typeface="Roboto"/>
              </a:rPr>
              <a:t>or city.</a:t>
            </a:r>
          </a:p>
          <a:p>
            <a:pPr marL="457200" lvl="0" indent="-317500" algn="just">
              <a:spcBef>
                <a:spcPts val="0"/>
              </a:spcBef>
              <a:buSzPts val="1400"/>
              <a:buFont typeface="Times New Roman"/>
              <a:buChar char="●"/>
            </a:pPr>
            <a:r>
              <a:rPr lang="en-US" sz="1600" b="1" dirty="0">
                <a:ea typeface="Roboto"/>
                <a:cs typeface="Roboto"/>
                <a:sym typeface="Roboto"/>
              </a:rPr>
              <a:t>Advertisement-Location-based advertisement allows targeted marketing and promotion campaign mostly delivered through mobile devices to reach specific target audiences.</a:t>
            </a:r>
          </a:p>
          <a:p>
            <a:pPr marL="457200" lvl="0" indent="-317500" algn="just">
              <a:spcBef>
                <a:spcPts val="0"/>
              </a:spcBef>
              <a:buSzPts val="1400"/>
              <a:buFont typeface="Times New Roman"/>
              <a:buChar char="●"/>
            </a:pPr>
            <a:r>
              <a:rPr lang="en-US" sz="1600" b="1" dirty="0">
                <a:ea typeface="Roboto"/>
                <a:cs typeface="Roboto"/>
                <a:sym typeface="Roboto"/>
              </a:rPr>
              <a:t>Information Request- Based on their current location, customers can request a product, service, or resource (e.g., the nearest coffee shop, restaurant, or parking lot).</a:t>
            </a:r>
          </a:p>
          <a:p>
            <a:pPr marL="457200" lvl="0" indent="-317500" algn="just">
              <a:spcBef>
                <a:spcPts val="5"/>
              </a:spcBef>
              <a:buSzPts val="1400"/>
              <a:buFont typeface="Times New Roman"/>
              <a:buChar char="●"/>
            </a:pPr>
            <a:r>
              <a:rPr lang="en-US" sz="1600" b="1" dirty="0">
                <a:ea typeface="Roboto"/>
                <a:cs typeface="Roboto"/>
                <a:sym typeface="Roboto"/>
              </a:rPr>
              <a:t>Alerts - Location data can be used to send and receive alerts and notifications, such as sales and promotion alerts traffic congestion alerts, speed limit warnings, and storm warnings etc.</a:t>
            </a:r>
          </a:p>
          <a:p>
            <a:pPr marL="457200" lvl="0" indent="-317500" algn="just">
              <a:spcBef>
                <a:spcPts val="370"/>
              </a:spcBef>
              <a:buSzPts val="1400"/>
              <a:buFont typeface="Times New Roman"/>
              <a:buChar char="●"/>
            </a:pPr>
            <a:r>
              <a:rPr lang="en-US" sz="1600" b="1" i="1" dirty="0">
                <a:ea typeface="Roboto"/>
                <a:cs typeface="Roboto"/>
                <a:sym typeface="Roboto"/>
              </a:rPr>
              <a:t>Search and Rescue - </a:t>
            </a:r>
            <a:r>
              <a:rPr lang="en-US" sz="1600" b="1" dirty="0">
                <a:ea typeface="Roboto"/>
                <a:cs typeface="Roboto"/>
                <a:sym typeface="Roboto"/>
              </a:rPr>
              <a:t>Location data is vital in search and rescue operations e.g. disaster management.</a:t>
            </a:r>
            <a:endParaRPr lang="en-US" sz="1600" b="1" i="1" dirty="0">
              <a:ea typeface="Roboto"/>
              <a:cs typeface="Roboto"/>
              <a:sym typeface="Roboto"/>
            </a:endParaRPr>
          </a:p>
          <a:p>
            <a:pPr marL="457200" lvl="0" indent="-317500" algn="just">
              <a:spcBef>
                <a:spcPts val="0"/>
              </a:spcBef>
              <a:buSzPts val="1400"/>
              <a:buFont typeface="Times New Roman"/>
              <a:buChar char="●"/>
            </a:pPr>
            <a:r>
              <a:rPr lang="en-US" sz="1600" b="1" i="1" dirty="0">
                <a:ea typeface="Roboto"/>
                <a:cs typeface="Roboto"/>
                <a:sym typeface="Roboto"/>
              </a:rPr>
              <a:t>Navigation - </a:t>
            </a:r>
            <a:r>
              <a:rPr lang="en-US" sz="1600" b="1" dirty="0">
                <a:highlight>
                  <a:srgbClr val="F7F7F8"/>
                </a:highlight>
                <a:ea typeface="Roboto"/>
                <a:cs typeface="Roboto"/>
                <a:sym typeface="Roboto"/>
              </a:rPr>
              <a:t>Mobile and GPS-based navigation services and apps can help users find addresses. An example of this is the BE-ON-ROAD app for Android devices, which offers offline turn-by-turn GPS navigation.</a:t>
            </a:r>
            <a:endParaRPr lang="en-US" sz="1600" b="1" i="1" dirty="0">
              <a:ea typeface="Roboto"/>
              <a:cs typeface="Roboto"/>
              <a:sym typeface="Roboto"/>
            </a:endParaRPr>
          </a:p>
          <a:p>
            <a:pPr marL="457200" lvl="0" indent="0" algn="just">
              <a:spcBef>
                <a:spcPts val="5"/>
              </a:spcBef>
              <a:buNone/>
            </a:pPr>
            <a:endParaRPr lang="en-US" sz="1600" b="1" dirty="0">
              <a:ea typeface="Roboto"/>
              <a:cs typeface="Roboto"/>
              <a:sym typeface="Roboto"/>
            </a:endParaRPr>
          </a:p>
          <a:p>
            <a:pPr marL="457200" lvl="0" indent="0" algn="just">
              <a:spcBef>
                <a:spcPts val="0"/>
              </a:spcBef>
              <a:buNone/>
            </a:pPr>
            <a:endParaRPr lang="en-US" sz="1600" b="1" dirty="0">
              <a:ea typeface="Roboto"/>
              <a:cs typeface="Roboto"/>
              <a:sym typeface="Roboto"/>
            </a:endParaRPr>
          </a:p>
          <a:p>
            <a:pPr marL="0" lvl="0" indent="0" algn="just">
              <a:spcBef>
                <a:spcPts val="0"/>
              </a:spcBef>
              <a:buNone/>
            </a:pPr>
            <a:endParaRPr lang="en-US" sz="1600" b="1" dirty="0">
              <a:ea typeface="Roboto"/>
              <a:cs typeface="Roboto"/>
              <a:sym typeface="Roboto"/>
            </a:endParaRPr>
          </a:p>
          <a:p>
            <a:pPr marL="457200" lvl="0" indent="0" algn="just">
              <a:spcBef>
                <a:spcPts val="0"/>
              </a:spcBef>
              <a:spcAft>
                <a:spcPts val="1200"/>
              </a:spcAft>
              <a:buNone/>
            </a:pPr>
            <a:endParaRPr lang="en-US" sz="1600" b="1" dirty="0"/>
          </a:p>
          <a:p>
            <a:pPr algn="just"/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1955276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b="1" dirty="0" smtClean="0"/>
              <a:t>Privacy </a:t>
            </a:r>
            <a:r>
              <a:rPr lang="en" b="1" dirty="0"/>
              <a:t>Concerns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696" y="1114097"/>
            <a:ext cx="8615191" cy="3716930"/>
          </a:xfrm>
        </p:spPr>
        <p:txBody>
          <a:bodyPr>
            <a:noAutofit/>
          </a:bodyPr>
          <a:lstStyle/>
          <a:p>
            <a:pPr marL="457200" lvl="0" indent="-317500" algn="just">
              <a:spcBef>
                <a:spcPts val="0"/>
              </a:spcBef>
              <a:buSzPts val="1400"/>
              <a:buFont typeface="Roboto"/>
              <a:buChar char="●"/>
            </a:pPr>
            <a:r>
              <a:rPr lang="en-US" sz="2400" b="1" dirty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Location-based services can bring convenience and value to businesses, but they also raise privacy concerns.</a:t>
            </a:r>
          </a:p>
          <a:p>
            <a:pPr marL="457200" lvl="0" indent="-317500" algn="just">
              <a:spcBef>
                <a:spcPts val="0"/>
              </a:spcBef>
              <a:buSzPts val="1400"/>
              <a:buFont typeface="Roboto"/>
              <a:buChar char="●"/>
            </a:pPr>
            <a:r>
              <a:rPr lang="en-US" sz="2400" b="1" dirty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These concerns include the need for transparency about location tracking, user control over the storage of location information, and options for preserving anonymity.</a:t>
            </a:r>
          </a:p>
          <a:p>
            <a:pPr marL="457200" lvl="0" indent="-317500" algn="just">
              <a:spcBef>
                <a:spcPts val="0"/>
              </a:spcBef>
              <a:buSzPts val="1400"/>
              <a:buFont typeface="Roboto"/>
              <a:buChar char="●"/>
            </a:pPr>
            <a:r>
              <a:rPr lang="en-US" sz="2400" b="1" dirty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There are also questions about legal protection for historical location data against unreasonable searches, and the appropriate level of disclosure control.</a:t>
            </a:r>
          </a:p>
          <a:p>
            <a:pPr marL="457200" lvl="0" indent="-317500" algn="just">
              <a:spcBef>
                <a:spcPts val="0"/>
              </a:spcBef>
              <a:buSzPts val="1400"/>
              <a:buFont typeface="Roboto"/>
              <a:buChar char="●"/>
            </a:pPr>
            <a:r>
              <a:rPr lang="en-US" sz="2400" b="1" dirty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There is a need for appropriate governmental regulation to protect citizens' privacy rights in the era of location-aware mobile devices.</a:t>
            </a:r>
          </a:p>
          <a:p>
            <a:pPr marL="457200" lvl="0" indent="0" algn="just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dirty="0">
              <a:latin typeface="+mj-lt"/>
            </a:endParaRPr>
          </a:p>
          <a:p>
            <a:pPr algn="just"/>
            <a:endParaRPr lang="en-IN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65805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b="1" dirty="0"/>
              <a:t>Location Analytics Tools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40" y="987863"/>
            <a:ext cx="9119760" cy="4476503"/>
          </a:xfrm>
        </p:spPr>
        <p:txBody>
          <a:bodyPr>
            <a:noAutofit/>
          </a:bodyPr>
          <a:lstStyle/>
          <a:p>
            <a:pPr marL="457200" lvl="0" indent="-317500" algn="just">
              <a:spcBef>
                <a:spcPts val="0"/>
              </a:spcBef>
              <a:buSzPts val="1400"/>
              <a:buFont typeface="Roboto"/>
              <a:buChar char="●"/>
            </a:pPr>
            <a:r>
              <a:rPr lang="en-US" sz="2000" b="1" dirty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Google Fusion </a:t>
            </a:r>
            <a:r>
              <a:rPr lang="en-US" sz="2000" b="1" dirty="0" smtClean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Tables- </a:t>
            </a:r>
            <a:r>
              <a:rPr lang="en-US" sz="2000" b="1" dirty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is a web service for geo-tagging, storing, sharing, querying, and visualizing tabular business data on Google Maps</a:t>
            </a:r>
            <a:r>
              <a:rPr lang="en-US" sz="2000" b="1" dirty="0" smtClean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.</a:t>
            </a:r>
          </a:p>
          <a:p>
            <a:pPr marL="457200" lvl="0" indent="-317500" algn="just">
              <a:spcBef>
                <a:spcPts val="0"/>
              </a:spcBef>
              <a:buSzPts val="1400"/>
              <a:buFont typeface="Roboto"/>
              <a:buChar char="●"/>
            </a:pPr>
            <a:r>
              <a:rPr lang="en-US" sz="2000" b="1" dirty="0" err="1" smtClean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Agos</a:t>
            </a:r>
            <a:r>
              <a:rPr lang="en-US" sz="2000" b="1" dirty="0" smtClean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- </a:t>
            </a:r>
            <a:r>
              <a:rPr lang="en-US" sz="2000" b="1" dirty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is a platform for geo-tagging and reporting that helps communities address climate change and disaster risk reduction</a:t>
            </a:r>
            <a:r>
              <a:rPr lang="en-US" sz="2000" b="1" dirty="0" smtClean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.</a:t>
            </a:r>
            <a:r>
              <a:rPr lang="en-US" dirty="0"/>
              <a:t> </a:t>
            </a:r>
            <a:r>
              <a:rPr lang="en-US" sz="2000" b="1" dirty="0">
                <a:solidFill>
                  <a:srgbClr val="0000CC"/>
                </a:solidFill>
                <a:highlight>
                  <a:srgbClr val="F7F7F8"/>
                </a:highlight>
                <a:latin typeface="+mj-lt"/>
                <a:ea typeface="Roboto"/>
                <a:cs typeface="Roboto"/>
              </a:rPr>
              <a:t>http://agos.rappler.com/#</a:t>
            </a:r>
            <a:endParaRPr lang="en-US" sz="2000" b="1" dirty="0">
              <a:solidFill>
                <a:srgbClr val="0000CC"/>
              </a:solidFill>
              <a:highlight>
                <a:srgbClr val="F7F7F8"/>
              </a:highlight>
              <a:latin typeface="+mj-lt"/>
              <a:ea typeface="Roboto"/>
              <a:cs typeface="Roboto"/>
              <a:sym typeface="Roboto"/>
            </a:endParaRPr>
          </a:p>
          <a:p>
            <a:pPr marL="457200" lvl="0" indent="-317500" algn="just">
              <a:spcBef>
                <a:spcPts val="0"/>
              </a:spcBef>
              <a:buSzPts val="1400"/>
              <a:buFont typeface="Roboto"/>
              <a:buChar char="●"/>
            </a:pPr>
            <a:r>
              <a:rPr lang="en-US" sz="2000" b="1" dirty="0" err="1" smtClean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Tweepsmap</a:t>
            </a:r>
            <a:r>
              <a:rPr lang="en-US" sz="2000" b="1" dirty="0" smtClean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- </a:t>
            </a:r>
            <a:r>
              <a:rPr lang="en-US" sz="2000" b="1" dirty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maps Twitter followers by location</a:t>
            </a:r>
            <a:r>
              <a:rPr lang="en-US" sz="2000" b="1" dirty="0" smtClean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.</a:t>
            </a:r>
            <a:r>
              <a:rPr lang="en-US" dirty="0"/>
              <a:t> </a:t>
            </a:r>
            <a:r>
              <a:rPr lang="en-US" sz="2000" b="1" dirty="0">
                <a:solidFill>
                  <a:srgbClr val="0000CC"/>
                </a:solidFill>
                <a:highlight>
                  <a:srgbClr val="F7F7F8"/>
                </a:highlight>
                <a:latin typeface="+mj-lt"/>
                <a:ea typeface="Roboto"/>
                <a:cs typeface="Roboto"/>
              </a:rPr>
              <a:t>https://tweepsmap.com/</a:t>
            </a:r>
            <a:endParaRPr lang="en-US" sz="2000" b="1" dirty="0">
              <a:solidFill>
                <a:srgbClr val="0000CC"/>
              </a:solidFill>
              <a:highlight>
                <a:srgbClr val="F7F7F8"/>
              </a:highlight>
              <a:latin typeface="+mj-lt"/>
              <a:ea typeface="Roboto"/>
              <a:cs typeface="Roboto"/>
              <a:sym typeface="Roboto"/>
            </a:endParaRPr>
          </a:p>
          <a:p>
            <a:pPr marL="457200" lvl="0" indent="-317500" algn="just">
              <a:spcBef>
                <a:spcPts val="0"/>
              </a:spcBef>
              <a:buSzPts val="1400"/>
              <a:buFont typeface="Roboto"/>
              <a:buChar char="●"/>
            </a:pPr>
            <a:r>
              <a:rPr lang="en-US" sz="2000" b="1" dirty="0" err="1" smtClean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Trendsmap</a:t>
            </a:r>
            <a:r>
              <a:rPr lang="en-US" sz="2000" b="1" dirty="0" smtClean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- </a:t>
            </a:r>
            <a:r>
              <a:rPr lang="en-US" sz="2000" b="1" dirty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is a real-time tool that maps the latest trends from Twitter</a:t>
            </a:r>
            <a:r>
              <a:rPr lang="en-US" sz="2000" b="1" dirty="0" smtClean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.</a:t>
            </a:r>
            <a:r>
              <a:rPr lang="en-US" dirty="0"/>
              <a:t> </a:t>
            </a:r>
            <a:r>
              <a:rPr lang="en-US" sz="2000" b="1" dirty="0">
                <a:solidFill>
                  <a:srgbClr val="0000CC"/>
                </a:solidFill>
                <a:highlight>
                  <a:srgbClr val="F7F7F8"/>
                </a:highlight>
                <a:latin typeface="+mj-lt"/>
                <a:ea typeface="Roboto"/>
                <a:cs typeface="Roboto"/>
              </a:rPr>
              <a:t>http://trendsmap.com/</a:t>
            </a:r>
            <a:endParaRPr lang="en-US" sz="2000" b="1" dirty="0">
              <a:solidFill>
                <a:srgbClr val="0000CC"/>
              </a:solidFill>
              <a:highlight>
                <a:srgbClr val="F7F7F8"/>
              </a:highlight>
              <a:latin typeface="+mj-lt"/>
              <a:ea typeface="Roboto"/>
              <a:cs typeface="Roboto"/>
              <a:sym typeface="Roboto"/>
            </a:endParaRPr>
          </a:p>
          <a:p>
            <a:pPr marL="457200" indent="-317500" algn="just">
              <a:spcBef>
                <a:spcPts val="0"/>
              </a:spcBef>
              <a:buSzPts val="1400"/>
              <a:buFont typeface="Roboto"/>
              <a:buChar char="●"/>
            </a:pPr>
            <a:r>
              <a:rPr lang="en-US" sz="2000" b="1" dirty="0" err="1" smtClean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Followerwonk</a:t>
            </a:r>
            <a:r>
              <a:rPr lang="en-US" sz="2000" b="1" dirty="0" smtClean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- </a:t>
            </a:r>
            <a:r>
              <a:rPr lang="en-US" sz="2000" b="1" dirty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is a tool for performing basic Twitter analytics such as analyzing followers, location, and tweeting patterns</a:t>
            </a:r>
            <a:r>
              <a:rPr lang="en-US" sz="2000" b="1" dirty="0" smtClean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.</a:t>
            </a:r>
            <a:r>
              <a:rPr lang="en-US" dirty="0"/>
              <a:t> </a:t>
            </a:r>
            <a:r>
              <a:rPr lang="en-US" sz="2000" b="1" dirty="0">
                <a:solidFill>
                  <a:srgbClr val="0000CC"/>
                </a:solidFill>
                <a:highlight>
                  <a:srgbClr val="F7F7F8"/>
                </a:highlight>
                <a:latin typeface="+mj-lt"/>
                <a:ea typeface="Roboto"/>
                <a:cs typeface="Roboto"/>
              </a:rPr>
              <a:t>http://followerwonk.com/</a:t>
            </a:r>
            <a:endParaRPr lang="en-US" sz="2000" b="1" dirty="0">
              <a:solidFill>
                <a:srgbClr val="0000CC"/>
              </a:solidFill>
              <a:highlight>
                <a:srgbClr val="F7F7F8"/>
              </a:highlight>
              <a:latin typeface="+mj-lt"/>
              <a:ea typeface="Roboto"/>
              <a:cs typeface="Roboto"/>
              <a:sym typeface="Roboto"/>
            </a:endParaRPr>
          </a:p>
          <a:p>
            <a:pPr marL="457200" lvl="0" indent="-317500" algn="just">
              <a:spcBef>
                <a:spcPts val="0"/>
              </a:spcBef>
              <a:buSzPts val="1400"/>
              <a:buFont typeface="Roboto"/>
              <a:buChar char="●"/>
            </a:pPr>
            <a:r>
              <a:rPr lang="en-US" sz="2000" b="1" dirty="0" err="1" smtClean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Esri's</a:t>
            </a:r>
            <a:r>
              <a:rPr lang="en-US" sz="2000" b="1" dirty="0" smtClean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 </a:t>
            </a:r>
            <a:r>
              <a:rPr lang="en-US" sz="2000" b="1" dirty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GIS software is used for mapping, visualizing, questioning, analyzing, and interpreting data to understand relationships, patterns, and trends</a:t>
            </a:r>
            <a:r>
              <a:rPr lang="en-US" sz="2000" b="1" dirty="0" smtClean="0">
                <a:highlight>
                  <a:srgbClr val="F7F7F8"/>
                </a:highlight>
                <a:latin typeface="+mj-lt"/>
                <a:ea typeface="Roboto"/>
                <a:cs typeface="Roboto"/>
                <a:sym typeface="Roboto"/>
              </a:rPr>
              <a:t>.</a:t>
            </a:r>
            <a:r>
              <a:rPr lang="en-US" dirty="0"/>
              <a:t> </a:t>
            </a:r>
            <a:r>
              <a:rPr lang="en-US" sz="2000" b="1" dirty="0">
                <a:solidFill>
                  <a:srgbClr val="0000CC"/>
                </a:solidFill>
                <a:highlight>
                  <a:srgbClr val="F7F7F8"/>
                </a:highlight>
                <a:latin typeface="+mj-lt"/>
                <a:ea typeface="Roboto"/>
                <a:cs typeface="Roboto"/>
              </a:rPr>
              <a:t>http://www.esri.com/</a:t>
            </a:r>
            <a:br>
              <a:rPr lang="en-US" sz="2000" b="1" dirty="0">
                <a:solidFill>
                  <a:srgbClr val="0000CC"/>
                </a:solidFill>
                <a:highlight>
                  <a:srgbClr val="F7F7F8"/>
                </a:highlight>
                <a:latin typeface="+mj-lt"/>
                <a:ea typeface="Roboto"/>
                <a:cs typeface="Roboto"/>
              </a:rPr>
            </a:br>
            <a:endParaRPr lang="en-US" sz="2000" b="1" dirty="0">
              <a:solidFill>
                <a:srgbClr val="0000CC"/>
              </a:solidFill>
              <a:highlight>
                <a:srgbClr val="F7F7F8"/>
              </a:highlight>
              <a:latin typeface="+mj-lt"/>
              <a:ea typeface="Roboto"/>
              <a:cs typeface="Roboto"/>
              <a:sym typeface="Roboto"/>
            </a:endParaRPr>
          </a:p>
          <a:p>
            <a:pPr marL="457200" lvl="0" indent="0" algn="just">
              <a:spcBef>
                <a:spcPts val="0"/>
              </a:spcBef>
              <a:spcAft>
                <a:spcPts val="1200"/>
              </a:spcAft>
              <a:buNone/>
            </a:pPr>
            <a:endParaRPr lang="en-US" sz="2000" b="1" dirty="0">
              <a:latin typeface="+mj-lt"/>
            </a:endParaRPr>
          </a:p>
          <a:p>
            <a:pPr algn="just"/>
            <a:endParaRPr lang="en-IN" sz="2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65527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b="1" dirty="0"/>
              <a:t>Questions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0">
              <a:spcBef>
                <a:spcPts val="0"/>
              </a:spcBef>
              <a:buSzPts val="1800"/>
              <a:buFont typeface="Times New Roman"/>
              <a:buChar char="●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Define location analytics.</a:t>
            </a:r>
          </a:p>
          <a:p>
            <a:pPr marL="457200" lvl="0">
              <a:spcBef>
                <a:spcPts val="50"/>
              </a:spcBef>
              <a:buSzPts val="1800"/>
              <a:buFont typeface="Times New Roman"/>
              <a:buChar char="●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Explain the two main categories of location analytics.</a:t>
            </a:r>
          </a:p>
          <a:p>
            <a:pPr marL="457200" lvl="0">
              <a:spcBef>
                <a:spcPts val="45"/>
              </a:spcBef>
              <a:buSzPts val="1800"/>
              <a:buFont typeface="Times New Roman"/>
              <a:buChar char="●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What are the sources of location data.</a:t>
            </a:r>
          </a:p>
          <a:p>
            <a:pPr marL="457200" lvl="0">
              <a:spcBef>
                <a:spcPts val="45"/>
              </a:spcBef>
              <a:buSzPts val="1800"/>
              <a:buFont typeface="Times New Roman"/>
              <a:buChar char="●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What are the main applications of business data-driven location analytics?</a:t>
            </a:r>
          </a:p>
          <a:p>
            <a:pPr marL="457200" marR="728980" lvl="0">
              <a:lnSpc>
                <a:spcPct val="102916"/>
              </a:lnSpc>
              <a:spcBef>
                <a:spcPts val="45"/>
              </a:spcBef>
              <a:buSzPts val="1800"/>
              <a:buFont typeface="Times New Roman"/>
              <a:buChar char="●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What are the main applications of social media data-driven location analytics?</a:t>
            </a:r>
          </a:p>
          <a:p>
            <a:pPr marL="457200" lvl="0">
              <a:lnSpc>
                <a:spcPct val="133750"/>
              </a:lnSpc>
              <a:spcBef>
                <a:spcPts val="0"/>
              </a:spcBef>
              <a:buSzPts val="1800"/>
              <a:buFont typeface="Times New Roman"/>
              <a:buChar char="●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Discuss privacy concerns related to location analytics</a:t>
            </a:r>
            <a:r>
              <a:rPr lang="en-US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457200" lvl="0">
              <a:lnSpc>
                <a:spcPct val="133750"/>
              </a:lnSpc>
              <a:spcBef>
                <a:spcPts val="0"/>
              </a:spcBef>
              <a:buSzPts val="1800"/>
              <a:buFont typeface="Times New Roman"/>
              <a:buChar char="●"/>
            </a:pPr>
            <a:r>
              <a:rPr lang="en-US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List out and brief Location Analytics Tools .</a:t>
            </a:r>
            <a:endParaRPr lang="en-US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206579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Search Engines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0" algn="just">
              <a:spcBef>
                <a:spcPts val="0"/>
              </a:spcBef>
              <a:buClr>
                <a:srgbClr val="374151"/>
              </a:buClr>
              <a:buSzPts val="1800"/>
              <a:buFont typeface="Roboto"/>
              <a:buChar char="●"/>
            </a:pPr>
            <a:r>
              <a:rPr lang="en-US" sz="2400" b="1" dirty="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Search engines are tools that help users find information on the internet. They do this by searching for information that corresponds to a user's request (e.g., keywords).</a:t>
            </a:r>
          </a:p>
          <a:p>
            <a:pPr marL="457200" lvl="0" algn="just">
              <a:spcBef>
                <a:spcPts val="0"/>
              </a:spcBef>
              <a:buClr>
                <a:srgbClr val="374151"/>
              </a:buClr>
              <a:buSzPts val="1800"/>
              <a:buFont typeface="Roboto"/>
              <a:buChar char="●"/>
            </a:pPr>
            <a:r>
              <a:rPr lang="en-US" sz="2400" b="1" dirty="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There are billions of websites on the internet, so search engines are crucial for helping users find the right information quickly.</a:t>
            </a:r>
          </a:p>
          <a:p>
            <a:pPr marL="457200" lvl="0" algn="just">
              <a:spcBef>
                <a:spcPts val="0"/>
              </a:spcBef>
              <a:buClr>
                <a:srgbClr val="374151"/>
              </a:buClr>
              <a:buSzPts val="1800"/>
              <a:buFont typeface="Roboto"/>
              <a:buChar char="●"/>
            </a:pPr>
            <a:r>
              <a:rPr lang="en-US" sz="2400" b="1" dirty="0">
                <a:solidFill>
                  <a:srgbClr val="374151"/>
                </a:solidFill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There are different types of search engines.</a:t>
            </a:r>
          </a:p>
          <a:p>
            <a:pPr marL="457200" lvl="0" indent="0" algn="just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dirty="0"/>
          </a:p>
          <a:p>
            <a:pPr algn="just"/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9580726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b="1" dirty="0"/>
              <a:t>Types of Search Engine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marR="99695" lvl="0" indent="0" algn="just">
              <a:lnSpc>
                <a:spcPct val="102916"/>
              </a:lnSpc>
              <a:spcBef>
                <a:spcPts val="60"/>
              </a:spcBef>
              <a:buSzPts val="1800"/>
              <a:buNone/>
            </a:pPr>
            <a:r>
              <a:rPr lang="en-US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Crawler-based, </a:t>
            </a:r>
          </a:p>
          <a:p>
            <a:pPr marL="114300" marR="99695" lvl="0" indent="0" algn="just">
              <a:lnSpc>
                <a:spcPct val="102916"/>
              </a:lnSpc>
              <a:spcBef>
                <a:spcPts val="60"/>
              </a:spcBef>
              <a:buSzPts val="1800"/>
              <a:buNone/>
            </a:pPr>
            <a:r>
              <a:rPr lang="en-US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 Directories </a:t>
            </a:r>
          </a:p>
          <a:p>
            <a:pPr marL="114300" marR="99695" lvl="0" indent="0" algn="just">
              <a:lnSpc>
                <a:spcPct val="102916"/>
              </a:lnSpc>
              <a:spcBef>
                <a:spcPts val="60"/>
              </a:spcBef>
              <a:buSzPts val="1800"/>
              <a:buNone/>
            </a:pPr>
            <a:r>
              <a:rPr lang="en-US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3) Metasearch engines.</a:t>
            </a:r>
          </a:p>
          <a:p>
            <a:pPr marL="457200" lv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46409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224337"/>
            <a:ext cx="8657304" cy="763526"/>
          </a:xfrm>
        </p:spPr>
        <p:txBody>
          <a:bodyPr>
            <a:normAutofit/>
          </a:bodyPr>
          <a:lstStyle/>
          <a:p>
            <a:r>
              <a:rPr lang="en" b="1" dirty="0" smtClean="0"/>
              <a:t>				Crawler </a:t>
            </a:r>
            <a:r>
              <a:rPr lang="en" b="1" dirty="0"/>
              <a:t>based Search Engine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marR="99695" lvl="0" algn="just">
              <a:lnSpc>
                <a:spcPct val="102916"/>
              </a:lnSpc>
              <a:spcBef>
                <a:spcPts val="65"/>
              </a:spcBef>
              <a:buSzPts val="1800"/>
              <a:buChar char="●"/>
            </a:pPr>
            <a:r>
              <a:rPr lang="en-US" b="1" dirty="0"/>
              <a:t>Crawler-based search engines create their databases or lists automatically, without any human intervention.</a:t>
            </a:r>
          </a:p>
          <a:p>
            <a:pPr marL="457200" marR="99695" lvl="0" indent="0" algn="just">
              <a:lnSpc>
                <a:spcPct val="102916"/>
              </a:lnSpc>
              <a:spcBef>
                <a:spcPts val="65"/>
              </a:spcBef>
              <a:buNone/>
            </a:pPr>
            <a:r>
              <a:rPr lang="en-US" b="1" dirty="0"/>
              <a:t>E.g. google, </a:t>
            </a:r>
            <a:r>
              <a:rPr lang="en-US" b="1" dirty="0" err="1"/>
              <a:t>bing</a:t>
            </a:r>
            <a:endParaRPr lang="en-US" b="1" dirty="0"/>
          </a:p>
          <a:p>
            <a:pPr marL="1371600" lvl="0" algn="just">
              <a:spcBef>
                <a:spcPts val="0"/>
              </a:spcBef>
              <a:buClr>
                <a:srgbClr val="374151"/>
              </a:buClr>
              <a:buSzPts val="1800"/>
              <a:buChar char="●"/>
            </a:pPr>
            <a:r>
              <a:rPr lang="en-US" b="1" dirty="0">
                <a:highlight>
                  <a:srgbClr val="F7F7F8"/>
                </a:highlight>
              </a:rPr>
              <a:t>Web crawling involves collecting and storing information about web pages</a:t>
            </a:r>
          </a:p>
          <a:p>
            <a:pPr marL="1371600" lvl="0" algn="just">
              <a:spcBef>
                <a:spcPts val="0"/>
              </a:spcBef>
              <a:buClr>
                <a:srgbClr val="374151"/>
              </a:buClr>
              <a:buSzPts val="1800"/>
              <a:buChar char="●"/>
            </a:pPr>
            <a:r>
              <a:rPr lang="en-US" b="1" dirty="0">
                <a:highlight>
                  <a:srgbClr val="F7F7F8"/>
                </a:highlight>
              </a:rPr>
              <a:t>Indexing involves categorizing and storing this data in a database for quick access</a:t>
            </a:r>
          </a:p>
          <a:p>
            <a:pPr marL="1371600" lvl="0" algn="just">
              <a:spcBef>
                <a:spcPts val="0"/>
              </a:spcBef>
              <a:buClr>
                <a:srgbClr val="374151"/>
              </a:buClr>
              <a:buSzPts val="1800"/>
              <a:buChar char="●"/>
            </a:pPr>
            <a:r>
              <a:rPr lang="en-US" b="1" dirty="0">
                <a:highlight>
                  <a:srgbClr val="F7F7F8"/>
                </a:highlight>
              </a:rPr>
              <a:t>Searching involves using keywords to query the index and provide a list of relevant web pages ranked according to various factors</a:t>
            </a:r>
          </a:p>
          <a:p>
            <a:pPr marL="1371600" marR="99695" lvl="0" indent="0" algn="just">
              <a:lnSpc>
                <a:spcPct val="102916"/>
              </a:lnSpc>
              <a:spcBef>
                <a:spcPts val="65"/>
              </a:spcBef>
              <a:buNone/>
            </a:pPr>
            <a:endParaRPr lang="en-US" b="1" dirty="0"/>
          </a:p>
          <a:p>
            <a:pPr marL="457200" marR="99695" lvl="0" indent="0" algn="just">
              <a:lnSpc>
                <a:spcPct val="102916"/>
              </a:lnSpc>
              <a:spcBef>
                <a:spcPts val="65"/>
              </a:spcBef>
              <a:buNone/>
            </a:pPr>
            <a:endParaRPr lang="en-US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541093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b="1" dirty="0"/>
              <a:t>Directories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0" algn="just">
              <a:spcBef>
                <a:spcPts val="0"/>
              </a:spcBef>
              <a:buClr>
                <a:srgbClr val="374151"/>
              </a:buClr>
              <a:buSzPts val="1800"/>
              <a:buFont typeface="Roboto"/>
              <a:buChar char="●"/>
            </a:pPr>
            <a:r>
              <a:rPr lang="en-US" sz="2400" b="1" dirty="0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Directory listings are compiled and created by human editors</a:t>
            </a:r>
          </a:p>
          <a:p>
            <a:pPr marL="457200" lvl="0" algn="just">
              <a:spcBef>
                <a:spcPts val="0"/>
              </a:spcBef>
              <a:buClr>
                <a:srgbClr val="374151"/>
              </a:buClr>
              <a:buSzPts val="1800"/>
              <a:buFont typeface="Roboto"/>
              <a:buChar char="●"/>
            </a:pPr>
            <a:r>
              <a:rPr lang="en-US" sz="2400" b="1" dirty="0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Website owners can submit their website for inclusion in the directory</a:t>
            </a:r>
          </a:p>
          <a:p>
            <a:pPr marL="457200" lvl="0" algn="just">
              <a:spcBef>
                <a:spcPts val="0"/>
              </a:spcBef>
              <a:buClr>
                <a:srgbClr val="374151"/>
              </a:buClr>
              <a:buSzPts val="1800"/>
              <a:buFont typeface="Roboto"/>
              <a:buChar char="●"/>
            </a:pPr>
            <a:r>
              <a:rPr lang="en-US" sz="2400" b="1" dirty="0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The submission is reviewed by the editor before being added to the directory</a:t>
            </a:r>
          </a:p>
          <a:p>
            <a:pPr marL="457200" lvl="0" algn="just">
              <a:spcBef>
                <a:spcPts val="0"/>
              </a:spcBef>
              <a:buClr>
                <a:srgbClr val="374151"/>
              </a:buClr>
              <a:buSzPts val="1800"/>
              <a:buFont typeface="Roboto"/>
              <a:buChar char="●"/>
            </a:pPr>
            <a:r>
              <a:rPr lang="en-US" sz="2400" b="1" dirty="0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Some examples of human-created directories include Yahoo Directory, Open Directory, and </a:t>
            </a:r>
            <a:r>
              <a:rPr lang="en-US" sz="2400" b="1" dirty="0" err="1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LookSmart</a:t>
            </a:r>
            <a:r>
              <a:rPr lang="en-US" sz="2400" b="1" dirty="0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marL="457200" lvl="0" indent="0" algn="just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dirty="0"/>
          </a:p>
          <a:p>
            <a:pPr algn="just"/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217937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b="1" dirty="0"/>
              <a:t>Meta Search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lvl="0" algn="just">
              <a:spcBef>
                <a:spcPts val="0"/>
              </a:spcBef>
              <a:buSzPts val="1800"/>
              <a:buFont typeface="Roboto"/>
              <a:buChar char="●"/>
            </a:pPr>
            <a:r>
              <a:rPr lang="en-US" sz="2400" b="1" dirty="0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Metasearch engines compile and display results from multiple individual search engines . e.g. </a:t>
            </a:r>
            <a:r>
              <a:rPr lang="en-US" sz="2400" b="1" dirty="0" err="1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Metacrawler,</a:t>
            </a:r>
            <a:r>
              <a:rPr lang="en-US" sz="2400" b="1" dirty="0" err="1">
                <a:latin typeface="Roboto"/>
                <a:ea typeface="Roboto"/>
                <a:cs typeface="Roboto"/>
                <a:sym typeface="Roboto"/>
              </a:rPr>
              <a:t>Mamma</a:t>
            </a:r>
            <a:r>
              <a:rPr lang="en-US" sz="2400" b="1" dirty="0">
                <a:latin typeface="Roboto"/>
                <a:ea typeface="Roboto"/>
                <a:cs typeface="Roboto"/>
                <a:sym typeface="Roboto"/>
              </a:rPr>
              <a:t>, and Dogpile</a:t>
            </a:r>
            <a:endParaRPr lang="en-US" sz="2400" b="1" dirty="0"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algn="just">
              <a:spcBef>
                <a:spcPts val="0"/>
              </a:spcBef>
              <a:buSzPts val="1800"/>
              <a:buFont typeface="Roboto"/>
              <a:buChar char="●"/>
            </a:pPr>
            <a:r>
              <a:rPr lang="en-US" sz="2400" b="1" dirty="0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Local search engines are embedded within a specific website and only search the content of that website</a:t>
            </a:r>
          </a:p>
          <a:p>
            <a:pPr marL="457200" lvl="0" algn="just">
              <a:spcBef>
                <a:spcPts val="0"/>
              </a:spcBef>
              <a:buSzPts val="1800"/>
              <a:buFont typeface="Roboto"/>
              <a:buChar char="●"/>
            </a:pPr>
            <a:r>
              <a:rPr lang="en-US" sz="2400" b="1" dirty="0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Global search engines search the entire web and can be localized to specific websites</a:t>
            </a:r>
          </a:p>
          <a:p>
            <a:pPr marL="457200" lvl="0" algn="just">
              <a:spcBef>
                <a:spcPts val="0"/>
              </a:spcBef>
              <a:buSzPts val="1800"/>
              <a:buFont typeface="Roboto"/>
              <a:buChar char="●"/>
            </a:pPr>
            <a:r>
              <a:rPr lang="en-US" sz="2400" b="1" dirty="0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Examples of global search engines include Google and Bing</a:t>
            </a:r>
          </a:p>
          <a:p>
            <a:pPr marL="457200" lvl="0" indent="0" algn="just">
              <a:spcBef>
                <a:spcPts val="0"/>
              </a:spcBef>
              <a:spcAft>
                <a:spcPts val="1200"/>
              </a:spcAft>
              <a:buNone/>
            </a:pPr>
            <a:endParaRPr lang="en-US" sz="2400" b="1" dirty="0"/>
          </a:p>
          <a:p>
            <a:pPr algn="just"/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3656767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b="1" dirty="0"/>
              <a:t>Search Engine Analytics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lvl="0" indent="-317500" algn="just">
              <a:spcBef>
                <a:spcPts val="0"/>
              </a:spcBef>
              <a:buSzPts val="1400"/>
              <a:buFont typeface="Roboto"/>
              <a:buChar char="●"/>
            </a:pPr>
            <a:r>
              <a:rPr lang="en-US" sz="1800" b="1" dirty="0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Search engine analytics involves analyzing and interpreting data from search engines</a:t>
            </a:r>
          </a:p>
          <a:p>
            <a:pPr marL="457200" lvl="0" indent="-317500" algn="just">
              <a:spcBef>
                <a:spcPts val="0"/>
              </a:spcBef>
              <a:buSzPts val="1400"/>
              <a:buFont typeface="Roboto"/>
              <a:buChar char="●"/>
            </a:pPr>
            <a:r>
              <a:rPr lang="en-US" sz="1800" b="1" dirty="0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It helps website owners understand and improve their website's performance in search results</a:t>
            </a:r>
          </a:p>
          <a:p>
            <a:pPr marL="457200" lvl="0" indent="-317500" algn="just">
              <a:spcBef>
                <a:spcPts val="0"/>
              </a:spcBef>
              <a:buSzPts val="1400"/>
              <a:buFont typeface="Roboto"/>
              <a:buChar char="●"/>
            </a:pPr>
            <a:r>
              <a:rPr lang="en-US" sz="1800" b="1" dirty="0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It can </a:t>
            </a:r>
            <a:r>
              <a:rPr lang="en-US" sz="1800" b="1" dirty="0" smtClean="0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involve </a:t>
            </a:r>
            <a:r>
              <a:rPr lang="en-US" sz="1800" b="1" dirty="0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analyzing various data points such as the number of visitors, keywords used, pages visited, and website position in search results</a:t>
            </a:r>
          </a:p>
          <a:p>
            <a:pPr marL="457200" lvl="0" indent="-317500" algn="just">
              <a:spcBef>
                <a:spcPts val="0"/>
              </a:spcBef>
              <a:buSzPts val="1400"/>
              <a:buFont typeface="Roboto"/>
              <a:buChar char="●"/>
            </a:pPr>
            <a:r>
              <a:rPr lang="en-US" sz="1800" b="1" dirty="0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Search engine analytics can be used to track the effectiveness of SEO efforts and guide future SEO strategies</a:t>
            </a:r>
          </a:p>
          <a:p>
            <a:pPr marL="457200" lvl="0" indent="-317500" algn="just">
              <a:spcBef>
                <a:spcPts val="0"/>
              </a:spcBef>
              <a:buSzPts val="1400"/>
              <a:buFont typeface="Roboto"/>
              <a:buChar char="●"/>
            </a:pPr>
            <a:r>
              <a:rPr lang="en-US" sz="1800" b="1" dirty="0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There are two types of Search Engine Analytics</a:t>
            </a:r>
          </a:p>
          <a:p>
            <a:pPr marL="0" marR="99695" lvl="0" indent="0" algn="just">
              <a:lnSpc>
                <a:spcPct val="102916"/>
              </a:lnSpc>
              <a:spcBef>
                <a:spcPts val="65"/>
              </a:spcBef>
              <a:buNone/>
            </a:pPr>
            <a:endParaRPr lang="en-US" sz="16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96900" marR="99695" lvl="1" indent="0" algn="just">
              <a:lnSpc>
                <a:spcPct val="102916"/>
              </a:lnSpc>
              <a:spcBef>
                <a:spcPts val="65"/>
              </a:spcBef>
              <a:buSzPts val="1400"/>
              <a:buNone/>
            </a:pPr>
            <a:r>
              <a:rPr lang="en-US" sz="2000" b="1" dirty="0">
                <a:latin typeface="Roboto"/>
                <a:ea typeface="Roboto"/>
                <a:cs typeface="Roboto"/>
                <a:sym typeface="Roboto"/>
              </a:rPr>
              <a:t>1) Search engine optimization</a:t>
            </a:r>
          </a:p>
          <a:p>
            <a:pPr marL="596900" marR="99695" lvl="1" indent="0" algn="just">
              <a:lnSpc>
                <a:spcPct val="102916"/>
              </a:lnSpc>
              <a:spcBef>
                <a:spcPts val="65"/>
              </a:spcBef>
              <a:buSzPts val="1400"/>
              <a:buNone/>
            </a:pPr>
            <a:r>
              <a:rPr lang="en-US" sz="2000" b="1" dirty="0">
                <a:latin typeface="Roboto"/>
                <a:ea typeface="Roboto"/>
                <a:cs typeface="Roboto"/>
                <a:sym typeface="Roboto"/>
              </a:rPr>
              <a:t>2) Search engine trend analysis.</a:t>
            </a:r>
          </a:p>
          <a:p>
            <a:pPr marL="457200" lvl="0" indent="0" algn="just">
              <a:spcBef>
                <a:spcPts val="0"/>
              </a:spcBef>
              <a:buNone/>
            </a:pPr>
            <a:endParaRPr lang="en-US" sz="1600" b="1" dirty="0"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just">
              <a:spcBef>
                <a:spcPts val="0"/>
              </a:spcBef>
              <a:spcAft>
                <a:spcPts val="1200"/>
              </a:spcAft>
              <a:buNone/>
            </a:pPr>
            <a:endParaRPr lang="en-US" sz="3200" b="1" dirty="0">
              <a:latin typeface="Roboto"/>
              <a:ea typeface="Roboto"/>
              <a:cs typeface="Roboto"/>
              <a:sym typeface="Roboto"/>
            </a:endParaRPr>
          </a:p>
          <a:p>
            <a:pPr algn="just"/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38495338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b="1" dirty="0" smtClean="0"/>
              <a:t>				Search </a:t>
            </a:r>
            <a:r>
              <a:rPr lang="en" b="1" dirty="0"/>
              <a:t>Engine Optimization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714" y="1216742"/>
            <a:ext cx="8246070" cy="3926758"/>
          </a:xfrm>
        </p:spPr>
        <p:txBody>
          <a:bodyPr>
            <a:noAutofit/>
          </a:bodyPr>
          <a:lstStyle/>
          <a:p>
            <a:pPr marL="457200" lvl="0" indent="-317500" algn="just">
              <a:spcBef>
                <a:spcPts val="0"/>
              </a:spcBef>
              <a:buSzPts val="1400"/>
              <a:buFont typeface="Roboto"/>
              <a:buChar char="●"/>
            </a:pPr>
            <a:r>
              <a:rPr lang="en-US" sz="1600" b="1" dirty="0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Search engine optimization (SEO) is the process of improving a website's ranking on a search engine results page (SERP</a:t>
            </a:r>
            <a:r>
              <a:rPr lang="en-US" sz="1600" b="1" dirty="0" smtClean="0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).</a:t>
            </a:r>
          </a:p>
          <a:p>
            <a:pPr marL="139700" lvl="0" indent="0" algn="just">
              <a:spcBef>
                <a:spcPts val="0"/>
              </a:spcBef>
              <a:buSzPts val="1400"/>
              <a:buNone/>
            </a:pPr>
            <a:endParaRPr lang="en-US" sz="1600" b="1" dirty="0"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just">
              <a:spcBef>
                <a:spcPts val="0"/>
              </a:spcBef>
              <a:buSzPts val="1400"/>
              <a:buFont typeface="Roboto"/>
              <a:buChar char="●"/>
            </a:pPr>
            <a:r>
              <a:rPr lang="en-US" sz="1600" b="1" dirty="0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SERPs have both organic and nonorganic results, with organic results being based on relevance to the user's query and nonorganic results being paid </a:t>
            </a:r>
            <a:r>
              <a:rPr lang="en-US" sz="1600" b="1" dirty="0" smtClean="0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advertisements</a:t>
            </a:r>
          </a:p>
          <a:p>
            <a:pPr marL="457200" lvl="0" indent="-317500" algn="just">
              <a:spcBef>
                <a:spcPts val="0"/>
              </a:spcBef>
              <a:buSzPts val="1400"/>
              <a:buFont typeface="Roboto"/>
              <a:buChar char="●"/>
            </a:pPr>
            <a:endParaRPr lang="en-US" sz="1600" b="1" dirty="0"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just">
              <a:spcBef>
                <a:spcPts val="0"/>
              </a:spcBef>
              <a:buSzPts val="1400"/>
              <a:buFont typeface="Roboto"/>
              <a:buChar char="●"/>
            </a:pPr>
            <a:r>
              <a:rPr lang="en-US" sz="1600" b="1" dirty="0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It is important for websites, especially commercial ones, to have a high ranking on SERPs because it can lead to more traffic and potential </a:t>
            </a:r>
            <a:r>
              <a:rPr lang="en-US" sz="1600" b="1" dirty="0" smtClean="0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customers</a:t>
            </a:r>
          </a:p>
          <a:p>
            <a:pPr marL="457200" lvl="0" indent="-317500" algn="just">
              <a:spcBef>
                <a:spcPts val="0"/>
              </a:spcBef>
              <a:buSzPts val="1400"/>
              <a:buFont typeface="Roboto"/>
              <a:buChar char="●"/>
            </a:pPr>
            <a:endParaRPr lang="en-US" sz="1600" b="1" dirty="0"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just">
              <a:spcBef>
                <a:spcPts val="0"/>
              </a:spcBef>
              <a:buSzPts val="1400"/>
              <a:buFont typeface="Roboto"/>
              <a:buChar char="●"/>
            </a:pPr>
            <a:r>
              <a:rPr lang="en-US" sz="1600" b="1" dirty="0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The main factor that determines a website's ranking on a SERP is its PageRank, which is determined by the quality and number of incoming links to the </a:t>
            </a:r>
            <a:r>
              <a:rPr lang="en-US" sz="1600" b="1" dirty="0" smtClean="0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website</a:t>
            </a:r>
          </a:p>
          <a:p>
            <a:pPr marL="457200" lvl="0" indent="-317500" algn="just">
              <a:spcBef>
                <a:spcPts val="0"/>
              </a:spcBef>
              <a:buSzPts val="1400"/>
              <a:buFont typeface="Roboto"/>
              <a:buChar char="●"/>
            </a:pPr>
            <a:endParaRPr lang="en-US" sz="1600" b="1" dirty="0"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317500" algn="just">
              <a:spcBef>
                <a:spcPts val="0"/>
              </a:spcBef>
              <a:buSzPts val="1400"/>
              <a:buFont typeface="Roboto"/>
              <a:buChar char="●"/>
            </a:pPr>
            <a:r>
              <a:rPr lang="en-US" sz="1600" b="1" dirty="0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Tools like Open SEO Stats can be used to check a website's PageRank and other relevant information such as traffic, hyperlink status, and page speed.</a:t>
            </a:r>
          </a:p>
          <a:p>
            <a:pPr marL="457200" lvl="0" indent="0" algn="just">
              <a:spcBef>
                <a:spcPts val="0"/>
              </a:spcBef>
              <a:spcAft>
                <a:spcPts val="1200"/>
              </a:spcAft>
              <a:buNone/>
            </a:pPr>
            <a:endParaRPr lang="en-US" sz="1600" b="1" dirty="0"/>
          </a:p>
          <a:p>
            <a:pPr algn="just"/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26309701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Search Trends Analysis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713" y="1216742"/>
            <a:ext cx="8522631" cy="3561734"/>
          </a:xfrm>
        </p:spPr>
        <p:txBody>
          <a:bodyPr>
            <a:normAutofit/>
          </a:bodyPr>
          <a:lstStyle/>
          <a:p>
            <a:pPr marL="457200" lvl="0" indent="-317500" algn="just">
              <a:spcBef>
                <a:spcPts val="1195"/>
              </a:spcBef>
              <a:buClr>
                <a:schemeClr val="dk2"/>
              </a:buClr>
              <a:buSzPts val="1400"/>
              <a:buFont typeface="Roboto"/>
              <a:buChar char="●"/>
            </a:pPr>
            <a:r>
              <a:rPr lang="en-US" b="1" dirty="0">
                <a:latin typeface="Roboto"/>
                <a:ea typeface="Roboto"/>
                <a:cs typeface="Roboto"/>
                <a:sym typeface="Roboto"/>
              </a:rPr>
              <a:t>How people search for your brand?</a:t>
            </a:r>
          </a:p>
          <a:p>
            <a:pPr marL="457200" marR="1557020" lvl="0" indent="-317500" algn="just">
              <a:lnSpc>
                <a:spcPct val="102916"/>
              </a:lnSpc>
              <a:spcBef>
                <a:spcPts val="0"/>
              </a:spcBef>
              <a:buClr>
                <a:schemeClr val="dk2"/>
              </a:buClr>
              <a:buSzPts val="1400"/>
              <a:buFont typeface="Roboto"/>
              <a:buChar char="●"/>
            </a:pPr>
            <a:r>
              <a:rPr lang="en-US" b="1" dirty="0">
                <a:latin typeface="Roboto"/>
                <a:ea typeface="Roboto"/>
                <a:cs typeface="Roboto"/>
                <a:sym typeface="Roboto"/>
              </a:rPr>
              <a:t>When does interest spike in your products or services? </a:t>
            </a:r>
          </a:p>
          <a:p>
            <a:pPr marL="457200" marR="1557020" lvl="0" indent="-317500" algn="just">
              <a:lnSpc>
                <a:spcPct val="102916"/>
              </a:lnSpc>
              <a:spcBef>
                <a:spcPts val="0"/>
              </a:spcBef>
              <a:buClr>
                <a:schemeClr val="dk2"/>
              </a:buClr>
              <a:buSzPts val="1400"/>
              <a:buFont typeface="Roboto"/>
              <a:buChar char="●"/>
            </a:pPr>
            <a:r>
              <a:rPr lang="en-US" b="1" dirty="0">
                <a:latin typeface="Roboto"/>
                <a:ea typeface="Roboto"/>
                <a:cs typeface="Roboto"/>
                <a:sym typeface="Roboto"/>
              </a:rPr>
              <a:t>Which keywords drive more traffic?</a:t>
            </a:r>
          </a:p>
          <a:p>
            <a:pPr marL="457200" marR="2463800" lvl="0" indent="-317500" algn="just">
              <a:lnSpc>
                <a:spcPct val="102916"/>
              </a:lnSpc>
              <a:spcBef>
                <a:spcPts val="0"/>
              </a:spcBef>
              <a:buClr>
                <a:schemeClr val="dk2"/>
              </a:buClr>
              <a:buSzPts val="1400"/>
              <a:buFont typeface="Roboto"/>
              <a:buChar char="●"/>
            </a:pPr>
            <a:r>
              <a:rPr lang="en-US" b="1" dirty="0">
                <a:latin typeface="Roboto"/>
                <a:ea typeface="Roboto"/>
                <a:cs typeface="Roboto"/>
                <a:sym typeface="Roboto"/>
              </a:rPr>
              <a:t>Which regions are interested </a:t>
            </a:r>
            <a:r>
              <a:rPr lang="en-US" b="1" dirty="0" smtClean="0">
                <a:latin typeface="Roboto"/>
                <a:ea typeface="Roboto"/>
                <a:cs typeface="Roboto"/>
                <a:sym typeface="Roboto"/>
              </a:rPr>
              <a:t>in your </a:t>
            </a:r>
            <a:r>
              <a:rPr lang="en-US" b="1" dirty="0">
                <a:latin typeface="Roboto"/>
                <a:ea typeface="Roboto"/>
                <a:cs typeface="Roboto"/>
                <a:sym typeface="Roboto"/>
              </a:rPr>
              <a:t>brand? </a:t>
            </a:r>
          </a:p>
          <a:p>
            <a:pPr marL="457200" marR="2463800" lvl="0" indent="-317500" algn="just">
              <a:lnSpc>
                <a:spcPct val="102916"/>
              </a:lnSpc>
              <a:spcBef>
                <a:spcPts val="0"/>
              </a:spcBef>
              <a:buClr>
                <a:schemeClr val="dk2"/>
              </a:buClr>
              <a:buSzPts val="1400"/>
              <a:buFont typeface="Roboto"/>
              <a:buChar char="●"/>
            </a:pPr>
            <a:r>
              <a:rPr lang="en-US" b="1" dirty="0">
                <a:latin typeface="Roboto"/>
                <a:ea typeface="Roboto"/>
                <a:cs typeface="Roboto"/>
                <a:sym typeface="Roboto"/>
              </a:rPr>
              <a:t>What are trending topics over the Internet?</a:t>
            </a:r>
          </a:p>
          <a:p>
            <a:pPr marL="457200" marR="2463800" lvl="0" indent="-317500" algn="just">
              <a:lnSpc>
                <a:spcPct val="102916"/>
              </a:lnSpc>
              <a:spcBef>
                <a:spcPts val="0"/>
              </a:spcBef>
              <a:buClr>
                <a:schemeClr val="dk2"/>
              </a:buClr>
              <a:buSzPts val="1400"/>
              <a:buFont typeface="Roboto"/>
              <a:buChar char="●"/>
            </a:pPr>
            <a:r>
              <a:rPr lang="en-US" b="1" dirty="0">
                <a:latin typeface="Roboto"/>
                <a:ea typeface="Roboto"/>
                <a:cs typeface="Roboto"/>
                <a:sym typeface="Roboto"/>
              </a:rPr>
              <a:t> How are your competitors performing?</a:t>
            </a:r>
          </a:p>
          <a:p>
            <a:pPr algn="just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7476725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b="1" dirty="0"/>
              <a:t>Search Trends Analysis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lvl="0" indent="-317500" algn="just">
              <a:spcBef>
                <a:spcPts val="0"/>
              </a:spcBef>
              <a:buClr>
                <a:srgbClr val="374151"/>
              </a:buClr>
              <a:buSzPts val="1400"/>
              <a:buFont typeface="Roboto"/>
              <a:buChar char="●"/>
            </a:pPr>
            <a:r>
              <a:rPr lang="en-US" b="1" dirty="0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Search engine trend analytics involves analyzing and understanding the keywords used in search engines.</a:t>
            </a:r>
          </a:p>
          <a:p>
            <a:pPr marL="457200" lvl="0" indent="-317500" algn="just">
              <a:spcBef>
                <a:spcPts val="0"/>
              </a:spcBef>
              <a:buClr>
                <a:srgbClr val="374151"/>
              </a:buClr>
              <a:buSzPts val="1400"/>
              <a:buFont typeface="Roboto"/>
              <a:buChar char="●"/>
            </a:pPr>
            <a:r>
              <a:rPr lang="en-US" b="1" dirty="0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Google Trends is a comprehensive tool for analyzing search engine trends and predicting future trends.</a:t>
            </a:r>
          </a:p>
          <a:p>
            <a:pPr marL="457200" lvl="0" indent="-317500" algn="just">
              <a:spcBef>
                <a:spcPts val="0"/>
              </a:spcBef>
              <a:buClr>
                <a:srgbClr val="374151"/>
              </a:buClr>
              <a:buSzPts val="1400"/>
              <a:buFont typeface="Roboto"/>
              <a:buChar char="●"/>
            </a:pPr>
            <a:r>
              <a:rPr lang="en-US" b="1" dirty="0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It can be used to understand how people search for a particular brand, when interest in products or services spikes, which keywords drive the most traffic, and how a brand's competitors are performing.</a:t>
            </a:r>
          </a:p>
          <a:p>
            <a:pPr marL="457200" lvl="0" indent="-317500" algn="just">
              <a:spcBef>
                <a:spcPts val="0"/>
              </a:spcBef>
              <a:buClr>
                <a:srgbClr val="374151"/>
              </a:buClr>
              <a:buSzPts val="1400"/>
              <a:buFont typeface="Roboto"/>
              <a:buChar char="●"/>
            </a:pPr>
            <a:r>
              <a:rPr lang="en-US" b="1" dirty="0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Google Trends data has also been used in various industries to detect early warning signs and track flu epidemics.</a:t>
            </a:r>
          </a:p>
          <a:p>
            <a:pPr marL="457200" lvl="0" indent="-317500" algn="just">
              <a:spcBef>
                <a:spcPts val="0"/>
              </a:spcBef>
              <a:buClr>
                <a:srgbClr val="374151"/>
              </a:buClr>
              <a:buSzPts val="1400"/>
              <a:buFont typeface="Roboto"/>
              <a:buChar char="●"/>
            </a:pPr>
            <a:r>
              <a:rPr lang="en-US" b="1" dirty="0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From a business perspective, Google Trends can help answer questions about search trends and patterns related to a brand.</a:t>
            </a:r>
          </a:p>
          <a:p>
            <a:pPr marL="457200" marR="99695" lvl="0" indent="-317500" algn="just">
              <a:lnSpc>
                <a:spcPct val="102916"/>
              </a:lnSpc>
              <a:spcBef>
                <a:spcPts val="50"/>
              </a:spcBef>
              <a:buClr>
                <a:srgbClr val="374151"/>
              </a:buClr>
              <a:buSzPts val="1400"/>
              <a:buFont typeface="Roboto"/>
              <a:buChar char="●"/>
            </a:pPr>
            <a:r>
              <a:rPr lang="en-US" b="1" dirty="0"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2">
                  <a:extLst>
                    <a:ext uri="{A12FA001-AC4F-418D-AE19-62706E023703}">
                      <ahyp:hlinkClr xmlns:lc="http://schemas.openxmlformats.org/drawingml/2006/lockedCanvas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http://www.google.com/trends/</a:t>
            </a:r>
            <a:endParaRPr lang="en-US" b="1" dirty="0"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just">
              <a:spcBef>
                <a:spcPts val="0"/>
              </a:spcBef>
              <a:spcAft>
                <a:spcPts val="1200"/>
              </a:spcAft>
              <a:buNone/>
            </a:pPr>
            <a:endParaRPr lang="en-US" b="1" dirty="0"/>
          </a:p>
          <a:p>
            <a:pPr algn="just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1783709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b="1" dirty="0" smtClean="0"/>
              <a:t>  				Search </a:t>
            </a:r>
            <a:r>
              <a:rPr lang="en" b="1" dirty="0"/>
              <a:t>Engine Analytics </a:t>
            </a:r>
            <a:r>
              <a:rPr lang="en" b="1" dirty="0" smtClean="0"/>
              <a:t>Tools        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lvl="0" indent="-317500" algn="just">
              <a:spcBef>
                <a:spcPts val="0"/>
              </a:spcBef>
              <a:buClr>
                <a:srgbClr val="374151"/>
              </a:buClr>
              <a:buSzPts val="1400"/>
              <a:buFont typeface="Roboto"/>
              <a:buChar char="●"/>
            </a:pPr>
            <a:r>
              <a:rPr lang="en-US" b="1" dirty="0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Google Trends is a search engine analytics tool</a:t>
            </a:r>
          </a:p>
          <a:p>
            <a:pPr marL="457200" lvl="0" indent="-317500" algn="just">
              <a:spcBef>
                <a:spcPts val="0"/>
              </a:spcBef>
              <a:buClr>
                <a:srgbClr val="374151"/>
              </a:buClr>
              <a:buSzPts val="1400"/>
              <a:buFont typeface="Roboto"/>
              <a:buChar char="●"/>
            </a:pPr>
            <a:r>
              <a:rPr lang="en-US" b="1" dirty="0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Canopy is a multimedia analytics tool for deep investigation of large multimedia collections</a:t>
            </a:r>
          </a:p>
          <a:p>
            <a:pPr marL="457200" lvl="0" indent="-317500" algn="just">
              <a:spcBef>
                <a:spcPts val="0"/>
              </a:spcBef>
              <a:buClr>
                <a:srgbClr val="374151"/>
              </a:buClr>
              <a:buSzPts val="1400"/>
              <a:buFont typeface="Roboto"/>
              <a:buChar char="●"/>
            </a:pPr>
            <a:r>
              <a:rPr lang="en-US" b="1" dirty="0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Google Alerts is a content detection and notification service that alerts users when new content matching their search terms is found on the internet</a:t>
            </a:r>
          </a:p>
          <a:p>
            <a:pPr marL="457200" lvl="0" indent="-317500" algn="just">
              <a:spcBef>
                <a:spcPts val="0"/>
              </a:spcBef>
              <a:buClr>
                <a:srgbClr val="374151"/>
              </a:buClr>
              <a:buSzPts val="1400"/>
              <a:buFont typeface="Roboto"/>
              <a:buChar char="●"/>
            </a:pPr>
            <a:r>
              <a:rPr lang="en-US" b="1" dirty="0" err="1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Icerocket</a:t>
            </a:r>
            <a:r>
              <a:rPr lang="en-US" b="1" dirty="0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 is a tool that specializes in blog searches and also captures activity on social media platforms</a:t>
            </a:r>
          </a:p>
          <a:p>
            <a:pPr marL="457200" lvl="0" indent="-317500" algn="just">
              <a:spcBef>
                <a:spcPts val="0"/>
              </a:spcBef>
              <a:buClr>
                <a:srgbClr val="374151"/>
              </a:buClr>
              <a:buSzPts val="1400"/>
              <a:buFont typeface="Roboto"/>
              <a:buChar char="●"/>
            </a:pPr>
            <a:r>
              <a:rPr lang="en-US" b="1" dirty="0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Social Mention is a tool similar to Google Alerts but focused on social media sites and allows users to focus on particular areas such as blogs</a:t>
            </a:r>
          </a:p>
          <a:p>
            <a:pPr marL="457200" lvl="0" indent="-317500" algn="just">
              <a:spcBef>
                <a:spcPts val="0"/>
              </a:spcBef>
              <a:buClr>
                <a:srgbClr val="374151"/>
              </a:buClr>
              <a:buSzPts val="1400"/>
              <a:buFont typeface="Roboto"/>
              <a:buChar char="●"/>
            </a:pPr>
            <a:r>
              <a:rPr lang="en-US" b="1" dirty="0" err="1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TweetBeep</a:t>
            </a:r>
            <a:r>
              <a:rPr lang="en-US" b="1" dirty="0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 is a tool that allows users to receive daily search results via email for specific keywords on Twitter.</a:t>
            </a:r>
          </a:p>
          <a:p>
            <a:pPr marL="457200" lvl="0" indent="0" algn="just">
              <a:spcBef>
                <a:spcPts val="0"/>
              </a:spcBef>
              <a:spcAft>
                <a:spcPts val="1200"/>
              </a:spcAft>
              <a:buNone/>
            </a:pPr>
            <a:endParaRPr lang="en-US" b="1" dirty="0"/>
          </a:p>
          <a:p>
            <a:pPr algn="just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0851464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Google Trends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1096" y="1370013"/>
            <a:ext cx="5401807" cy="326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7279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224337"/>
            <a:ext cx="8657304" cy="763526"/>
          </a:xfrm>
        </p:spPr>
        <p:txBody>
          <a:bodyPr>
            <a:normAutofit fontScale="90000"/>
          </a:bodyPr>
          <a:lstStyle/>
          <a:p>
            <a:pPr algn="l"/>
            <a:r>
              <a:rPr lang="en" b="1" dirty="0" smtClean="0"/>
              <a:t>                                                  </a:t>
            </a:r>
            <a:r>
              <a:rPr lang="en" sz="3100" b="1" dirty="0" smtClean="0"/>
              <a:t>Type </a:t>
            </a:r>
            <a:r>
              <a:rPr lang="en" sz="3100" b="1" dirty="0"/>
              <a:t>of Analytics </a:t>
            </a:r>
            <a:r>
              <a:rPr lang="en" sz="3100" b="1" dirty="0" smtClean="0"/>
              <a:t/>
            </a:r>
            <a:br>
              <a:rPr lang="en" sz="3100" b="1" dirty="0" smtClean="0"/>
            </a:br>
            <a:r>
              <a:rPr lang="en" sz="3100" b="1" dirty="0"/>
              <a:t> </a:t>
            </a:r>
            <a:r>
              <a:rPr lang="en" sz="3100" b="1" dirty="0" smtClean="0"/>
              <a:t>                                                   Provided </a:t>
            </a:r>
            <a:r>
              <a:rPr lang="en" sz="3100" b="1" dirty="0"/>
              <a:t>by Google Trends</a:t>
            </a:r>
            <a:endParaRPr lang="en-IN" sz="31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Year in Search</a:t>
            </a:r>
          </a:p>
          <a:p>
            <a:r>
              <a:rPr lang="en-US" b="1" dirty="0"/>
              <a:t>Trending Searches</a:t>
            </a:r>
          </a:p>
          <a:p>
            <a:r>
              <a:rPr lang="en-US" b="1" dirty="0"/>
              <a:t>Trending on YouTube</a:t>
            </a:r>
          </a:p>
          <a:p>
            <a:r>
              <a:rPr lang="en-US" b="1" dirty="0"/>
              <a:t>Top Charts</a:t>
            </a:r>
          </a:p>
          <a:p>
            <a:r>
              <a:rPr lang="en-US" b="1" dirty="0"/>
              <a:t>Explore</a:t>
            </a:r>
          </a:p>
          <a:p>
            <a:r>
              <a:rPr lang="en-US" b="1" dirty="0"/>
              <a:t>Subscription</a:t>
            </a:r>
          </a:p>
          <a:p>
            <a:endParaRPr lang="en-US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1552225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Regional Interest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2101" y="1370013"/>
            <a:ext cx="6619797" cy="326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680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224337"/>
            <a:ext cx="8657304" cy="763526"/>
          </a:xfrm>
        </p:spPr>
        <p:txBody>
          <a:bodyPr>
            <a:normAutofit fontScale="90000"/>
          </a:bodyPr>
          <a:lstStyle/>
          <a:p>
            <a:pPr algn="l"/>
            <a:r>
              <a:rPr lang="en" dirty="0" smtClean="0"/>
              <a:t>                                          </a:t>
            </a:r>
            <a:r>
              <a:rPr lang="en" sz="3100" b="1" dirty="0" smtClean="0"/>
              <a:t>Understanding </a:t>
            </a:r>
            <a:r>
              <a:rPr lang="en" sz="3100" b="1" dirty="0"/>
              <a:t>the Research </a:t>
            </a:r>
            <a:r>
              <a:rPr lang="en" sz="3100" b="1" dirty="0" smtClean="0"/>
              <a:t/>
            </a:r>
            <a:br>
              <a:rPr lang="en" sz="3100" b="1" dirty="0" smtClean="0"/>
            </a:br>
            <a:r>
              <a:rPr lang="en" sz="3100" b="1" dirty="0"/>
              <a:t> </a:t>
            </a:r>
            <a:r>
              <a:rPr lang="en" sz="3100" b="1" dirty="0" smtClean="0"/>
              <a:t>                                               Function</a:t>
            </a:r>
            <a:endParaRPr lang="en-IN" sz="3100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5821" y="1216025"/>
            <a:ext cx="8397765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0024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Grouping Search Term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63500" lvl="0" indent="0" algn="just">
              <a:spcBef>
                <a:spcPts val="5"/>
              </a:spcBef>
              <a:buNone/>
            </a:pPr>
            <a:r>
              <a:rPr lang="en-US" sz="3600" b="1" i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Grouping Search Terms</a:t>
            </a:r>
          </a:p>
          <a:p>
            <a:pPr marL="63500" marR="99695" lvl="0" indent="0" algn="just">
              <a:lnSpc>
                <a:spcPct val="102916"/>
              </a:lnSpc>
              <a:spcBef>
                <a:spcPts val="60"/>
              </a:spcBef>
              <a:buNone/>
            </a:pPr>
            <a:r>
              <a:rPr lang="en-US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Overall, you can search up to five groupings at one time, with up to twenty-five search terms in each grouping. Consider the following example.</a:t>
            </a:r>
          </a:p>
          <a:p>
            <a:pPr marL="0" lvl="0" indent="0" algn="just">
              <a:spcBef>
                <a:spcPts val="50"/>
              </a:spcBef>
              <a:buNone/>
            </a:pPr>
            <a:endParaRPr lang="en-US" sz="32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77545" lvl="0" indent="-287654" algn="just">
              <a:lnSpc>
                <a:spcPct val="14375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Char char="✓"/>
            </a:pPr>
            <a:r>
              <a:rPr lang="en-US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iPhone 2 + Galaxy S2 + LG G (Grouping 1)</a:t>
            </a:r>
          </a:p>
          <a:p>
            <a:pPr marL="677545" lvl="0" indent="-287654" algn="just">
              <a:lnSpc>
                <a:spcPct val="137916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Char char="✓"/>
            </a:pPr>
            <a:r>
              <a:rPr lang="en-US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iPhone 3 + Galaxy S3 + LG Optimus F3 (Grouping 2)</a:t>
            </a:r>
          </a:p>
          <a:p>
            <a:pPr marL="677545" lvl="0" indent="-287654" algn="just">
              <a:lnSpc>
                <a:spcPct val="137916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Char char="✓"/>
            </a:pPr>
            <a:r>
              <a:rPr lang="en-US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iPhone 4 + Galaxy S4 (Grouping 3)</a:t>
            </a:r>
          </a:p>
          <a:p>
            <a:pPr marL="677545" lvl="0" indent="-287654" algn="just">
              <a:lnSpc>
                <a:spcPct val="137916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Char char="✓"/>
            </a:pPr>
            <a:r>
              <a:rPr lang="en-US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iPhone 5 + Galaxy S5 + LG Optimus F6 (Grouping 4)</a:t>
            </a:r>
          </a:p>
          <a:p>
            <a:pPr marL="677545" lvl="0" indent="-287654" algn="just">
              <a:lnSpc>
                <a:spcPct val="143750"/>
              </a:lnSpc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Char char="✓"/>
            </a:pPr>
            <a:r>
              <a:rPr lang="en-US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iPhone 6+ Galaxy S6 (Grouping 5)</a:t>
            </a:r>
          </a:p>
          <a:p>
            <a:pPr marL="457200" lvl="0" algn="just">
              <a:spcBef>
                <a:spcPts val="0"/>
              </a:spcBef>
              <a:buSzPts val="1800"/>
              <a:buChar char="●"/>
            </a:pPr>
            <a:endParaRPr lang="en-US" b="1" dirty="0"/>
          </a:p>
          <a:p>
            <a:pPr algn="just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8111004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b="1" dirty="0"/>
              <a:t>Customizing the Search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algn="just">
              <a:spcBef>
                <a:spcPts val="0"/>
              </a:spcBef>
              <a:buSzPts val="1800"/>
              <a:buFont typeface="Roboto"/>
              <a:buChar char="●"/>
            </a:pPr>
            <a:r>
              <a:rPr lang="en-US" b="1" dirty="0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Google Trends allows users to customize search results by country, year, category, and type of web resource</a:t>
            </a:r>
          </a:p>
          <a:p>
            <a:pPr marL="457200" lvl="0" algn="just">
              <a:spcBef>
                <a:spcPts val="0"/>
              </a:spcBef>
              <a:buSzPts val="1800"/>
              <a:buFont typeface="Roboto"/>
              <a:buChar char="●"/>
            </a:pPr>
            <a:r>
              <a:rPr lang="en-US" b="1" dirty="0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Users can also select custom data ranges from the date dropdown menu</a:t>
            </a:r>
          </a:p>
          <a:p>
            <a:pPr marL="457200" lvl="0" algn="just">
              <a:spcBef>
                <a:spcPts val="0"/>
              </a:spcBef>
              <a:buSzPts val="1800"/>
              <a:buFont typeface="Roboto"/>
              <a:buChar char="●"/>
            </a:pPr>
            <a:r>
              <a:rPr lang="en-US" b="1" dirty="0">
                <a:highlight>
                  <a:srgbClr val="F7F7F8"/>
                </a:highlight>
                <a:latin typeface="Roboto"/>
                <a:ea typeface="Roboto"/>
                <a:cs typeface="Roboto"/>
                <a:sym typeface="Roboto"/>
              </a:rPr>
              <a:t>Trend data is only available from 2004 onwards.</a:t>
            </a:r>
          </a:p>
          <a:p>
            <a:pPr marL="457200" lvl="0" indent="0" algn="just">
              <a:spcBef>
                <a:spcPts val="0"/>
              </a:spcBef>
              <a:spcAft>
                <a:spcPts val="1200"/>
              </a:spcAft>
              <a:buNone/>
            </a:pPr>
            <a:endParaRPr lang="en-US" b="1" dirty="0"/>
          </a:p>
          <a:p>
            <a:pPr algn="just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1591451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Wolfram Alpha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/>
              <a:t>Wolfram Alpha is a computational knowledge search engine which does not give list of documents or web pages as search results</a:t>
            </a:r>
            <a:r>
              <a:rPr lang="en-US" b="1" dirty="0" smtClean="0"/>
              <a:t>.</a:t>
            </a:r>
          </a:p>
          <a:p>
            <a:pPr algn="just"/>
            <a:r>
              <a:rPr lang="en-US" b="1" dirty="0" smtClean="0"/>
              <a:t> </a:t>
            </a:r>
            <a:r>
              <a:rPr lang="en-US" b="1" dirty="0"/>
              <a:t>Results are based on facts &amp; data about that query. </a:t>
            </a:r>
            <a:endParaRPr lang="en-US" b="1" dirty="0" smtClean="0"/>
          </a:p>
          <a:p>
            <a:pPr algn="just"/>
            <a:r>
              <a:rPr lang="en-US" b="1" dirty="0" smtClean="0"/>
              <a:t>Their </a:t>
            </a:r>
            <a:r>
              <a:rPr lang="en-US" b="1" dirty="0"/>
              <a:t>mission statement is to make all systematic knowledge computable and broadly accessible. </a:t>
            </a:r>
            <a:endParaRPr lang="en-US" b="1" dirty="0" smtClean="0"/>
          </a:p>
          <a:p>
            <a:pPr algn="just"/>
            <a:r>
              <a:rPr lang="en-US" b="1" dirty="0" smtClean="0"/>
              <a:t>Launched </a:t>
            </a:r>
            <a:r>
              <a:rPr lang="en-US" b="1" dirty="0"/>
              <a:t>in 2009</a:t>
            </a:r>
            <a:r>
              <a:rPr lang="en-US" b="1" dirty="0" smtClean="0"/>
              <a:t>, having a Pro </a:t>
            </a:r>
            <a:r>
              <a:rPr lang="en-US" b="1" dirty="0"/>
              <a:t>solution designed with pricing for Students and Educators.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9788504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Wolfram Alpha Plotting</a:t>
            </a:r>
            <a:endParaRPr lang="en-IN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1216743"/>
            <a:ext cx="8724900" cy="356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2767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Wolfram Alpha Plotting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6696" y="1216025"/>
            <a:ext cx="8066753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5949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Schematic of Wolfram Alpha</a:t>
            </a:r>
            <a:br>
              <a:rPr lang="en-US" b="1" dirty="0" smtClean="0"/>
            </a:br>
            <a:r>
              <a:rPr lang="en-US" b="1" dirty="0" smtClean="0"/>
              <a:t> Working 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0" y="1531620"/>
            <a:ext cx="6180083" cy="3408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8655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b="1" dirty="0"/>
              <a:t>Questions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0" indent="-317500" algn="just">
              <a:spcBef>
                <a:spcPts val="0"/>
              </a:spcBef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function of a search engine?</a:t>
            </a:r>
          </a:p>
          <a:p>
            <a:pPr marL="457200" lvl="0" indent="-317500" algn="just">
              <a:spcBef>
                <a:spcPts val="45"/>
              </a:spcBef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Explain different types of search engines.</a:t>
            </a:r>
          </a:p>
          <a:p>
            <a:pPr marL="457200" lvl="0" indent="-317500" algn="just">
              <a:spcBef>
                <a:spcPts val="45"/>
              </a:spcBef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Differentiate between local and global search engines.</a:t>
            </a:r>
          </a:p>
          <a:p>
            <a:pPr marL="457200" lvl="0" indent="-317500" algn="just">
              <a:spcBef>
                <a:spcPts val="45"/>
              </a:spcBef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search engine analytics?</a:t>
            </a:r>
          </a:p>
          <a:p>
            <a:pPr marL="457200" lvl="0" indent="-317500" algn="just">
              <a:spcBef>
                <a:spcPts val="50"/>
              </a:spcBef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Explain the two main categories of search engine analytics.</a:t>
            </a:r>
          </a:p>
          <a:p>
            <a:pPr marL="457200" lvl="0" indent="-317500" algn="just">
              <a:spcBef>
                <a:spcPts val="45"/>
              </a:spcBef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purpose of search engine optimization?</a:t>
            </a:r>
          </a:p>
          <a:p>
            <a:pPr marL="457200" lvl="0" indent="-317500" algn="just">
              <a:spcBef>
                <a:spcPts val="45"/>
              </a:spcBef>
              <a:buClr>
                <a:srgbClr val="000000"/>
              </a:buClr>
              <a:buSzPts val="1400"/>
              <a:buFont typeface="Times New Roman"/>
              <a:buChar char="●"/>
            </a:pPr>
            <a:r>
              <a:rPr lang="en-US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purpose of search engine trend analysis?</a:t>
            </a:r>
          </a:p>
          <a:p>
            <a:pPr marL="457200" lvl="0" indent="0" algn="just">
              <a:spcBef>
                <a:spcPts val="0"/>
              </a:spcBef>
              <a:spcAft>
                <a:spcPts val="1200"/>
              </a:spcAft>
              <a:buNone/>
            </a:pPr>
            <a:endParaRPr lang="en-US" b="1" dirty="0"/>
          </a:p>
          <a:p>
            <a:pPr algn="just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199930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Supportive Case Study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6696" y="1380129"/>
            <a:ext cx="2286000" cy="28555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60269" y="4258603"/>
            <a:ext cx="20985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 err="1" smtClean="0"/>
              <a:t>Dr.</a:t>
            </a:r>
            <a:r>
              <a:rPr lang="en-IN" sz="2000" b="1" dirty="0" smtClean="0"/>
              <a:t> </a:t>
            </a:r>
            <a:r>
              <a:rPr lang="en-IN" sz="2000" b="1" dirty="0" err="1" smtClean="0"/>
              <a:t>Meghana</a:t>
            </a:r>
            <a:r>
              <a:rPr lang="en-IN" sz="2000" b="1" dirty="0" smtClean="0"/>
              <a:t> Dixit</a:t>
            </a:r>
            <a:endParaRPr lang="en-IN" sz="2000" b="1" dirty="0"/>
          </a:p>
        </p:txBody>
      </p:sp>
      <p:sp>
        <p:nvSpPr>
          <p:cNvPr id="6" name="Rectangle 5"/>
          <p:cNvSpPr/>
          <p:nvPr/>
        </p:nvSpPr>
        <p:spPr>
          <a:xfrm>
            <a:off x="2994990" y="1380130"/>
            <a:ext cx="5750804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b="1" dirty="0" smtClean="0"/>
              <a:t>Re-wiring the Brain is possible.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b="1" dirty="0" smtClean="0"/>
              <a:t>Identify the Success Blockers.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b="1" dirty="0" smtClean="0"/>
              <a:t>Natural Competency to adopt new environment.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b="1" dirty="0" smtClean="0"/>
              <a:t>Fool your brain.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800" b="1" dirty="0" smtClean="0"/>
              <a:t>Continuous bombardment is absorbed by Subconscious mind.</a:t>
            </a:r>
          </a:p>
        </p:txBody>
      </p:sp>
    </p:spTree>
    <p:extLst>
      <p:ext uri="{BB962C8B-B14F-4D97-AF65-F5344CB8AC3E}">
        <p14:creationId xmlns:p14="http://schemas.microsoft.com/office/powerpoint/2010/main" val="20749744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IN" dirty="0" smtClean="0"/>
              <a:t>                                               </a:t>
            </a:r>
            <a:r>
              <a:rPr lang="en-IN" b="1" dirty="0" smtClean="0"/>
              <a:t>Steps in</a:t>
            </a:r>
            <a:br>
              <a:rPr lang="en-IN" b="1" dirty="0" smtClean="0"/>
            </a:br>
            <a:r>
              <a:rPr lang="en-IN" b="1" dirty="0" smtClean="0"/>
              <a:t>                                               Location Analytics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3216166" y="1300715"/>
            <a:ext cx="3741682" cy="7067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1. Plot Stored Locations on a map.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3216166" y="2091451"/>
            <a:ext cx="3741682" cy="7673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2. Identify and plot your Competitors.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3216166" y="3026979"/>
            <a:ext cx="3741682" cy="7672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3. Plot your current customers</a:t>
            </a:r>
          </a:p>
          <a:p>
            <a:r>
              <a:rPr lang="en-US" dirty="0" smtClean="0"/>
              <a:t>(by zip code or address)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3216166" y="3907389"/>
            <a:ext cx="3741682" cy="8710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4. Take actionable conclusions.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2078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0"/>
            <a:ext cx="8259098" cy="987863"/>
          </a:xfrm>
        </p:spPr>
        <p:txBody>
          <a:bodyPr>
            <a:normAutofit fontScale="90000"/>
          </a:bodyPr>
          <a:lstStyle/>
          <a:p>
            <a:pPr algn="l"/>
            <a:r>
              <a:rPr lang="en-US" sz="3200" dirty="0" smtClean="0"/>
              <a:t>                                                     </a:t>
            </a:r>
            <a:br>
              <a:rPr lang="en-US" sz="3200" dirty="0" smtClean="0"/>
            </a:br>
            <a:r>
              <a:rPr lang="en-US" sz="3200" dirty="0" smtClean="0"/>
              <a:t>                                                        </a:t>
            </a:r>
            <a:r>
              <a:rPr lang="en-US" sz="3200" b="1" dirty="0" smtClean="0"/>
              <a:t>Steps in SEO</a:t>
            </a:r>
            <a:br>
              <a:rPr lang="en-US" sz="3200" b="1" dirty="0" smtClean="0"/>
            </a:br>
            <a:r>
              <a:rPr lang="en-US" sz="3200" b="1" dirty="0"/>
              <a:t> </a:t>
            </a:r>
            <a:r>
              <a:rPr lang="en-US" sz="3200" b="1" dirty="0" smtClean="0"/>
              <a:t>                                           (Search Engine Optimization)</a:t>
            </a:r>
            <a:endParaRPr lang="en-IN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Step 1: Find keywords.</a:t>
            </a:r>
          </a:p>
          <a:p>
            <a:pPr marL="0" indent="0">
              <a:buNone/>
            </a:pPr>
            <a:r>
              <a:rPr lang="en-US" b="1" dirty="0"/>
              <a:t>Step 2: Put keywords in the page title.</a:t>
            </a:r>
          </a:p>
          <a:p>
            <a:pPr marL="0" indent="0">
              <a:buNone/>
            </a:pPr>
            <a:r>
              <a:rPr lang="en-US" b="1" dirty="0"/>
              <a:t>Step 3: Put keywords in the page URL.</a:t>
            </a:r>
          </a:p>
          <a:p>
            <a:pPr marL="0" indent="0">
              <a:buNone/>
            </a:pPr>
            <a:r>
              <a:rPr lang="en-US" b="1" dirty="0"/>
              <a:t>Step 4: Put keywords in </a:t>
            </a:r>
            <a:r>
              <a:rPr lang="en-US" b="1" dirty="0" smtClean="0"/>
              <a:t>meta </a:t>
            </a:r>
            <a:r>
              <a:rPr lang="en-US" b="1" dirty="0"/>
              <a:t>description.</a:t>
            </a:r>
          </a:p>
          <a:p>
            <a:pPr marL="0" indent="0">
              <a:buNone/>
            </a:pPr>
            <a:r>
              <a:rPr lang="en-US" b="1" dirty="0"/>
              <a:t>Step 5: Put keywords in </a:t>
            </a:r>
            <a:r>
              <a:rPr lang="en-US" b="1" dirty="0" smtClean="0"/>
              <a:t>heading.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Step 6: Use keywords in the page's content.</a:t>
            </a:r>
          </a:p>
          <a:p>
            <a:pPr marL="0" indent="0">
              <a:buNone/>
            </a:pPr>
            <a:r>
              <a:rPr lang="en-US" b="1" dirty="0"/>
              <a:t>Step 7: Build links to your website.</a:t>
            </a:r>
          </a:p>
          <a:p>
            <a:pPr marL="0" indent="0">
              <a:buNone/>
            </a:pPr>
            <a:r>
              <a:rPr lang="en-US" b="1" dirty="0"/>
              <a:t>Step 8: Monitor your rank.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40908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 Components in SEO</a:t>
            </a:r>
            <a:endParaRPr lang="en-IN" b="1" dirty="0"/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 smtClean="0"/>
              <a:t>4 Core Components</a:t>
            </a:r>
            <a:endParaRPr lang="en-IN" b="1" dirty="0"/>
          </a:p>
        </p:txBody>
      </p:sp>
      <p:sp>
        <p:nvSpPr>
          <p:cNvPr id="16" name="Oval 15"/>
          <p:cNvSpPr/>
          <p:nvPr/>
        </p:nvSpPr>
        <p:spPr>
          <a:xfrm>
            <a:off x="4792717" y="1313793"/>
            <a:ext cx="1513489" cy="111409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Keyword Search</a:t>
            </a:r>
            <a:endParaRPr lang="en-IN" b="1" dirty="0"/>
          </a:p>
        </p:txBody>
      </p:sp>
      <p:sp>
        <p:nvSpPr>
          <p:cNvPr id="17" name="Oval 16"/>
          <p:cNvSpPr/>
          <p:nvPr/>
        </p:nvSpPr>
        <p:spPr>
          <a:xfrm>
            <a:off x="6710855" y="2558483"/>
            <a:ext cx="1198179" cy="11035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On-page </a:t>
            </a:r>
            <a:r>
              <a:rPr lang="en-US" b="1" dirty="0"/>
              <a:t>SEO</a:t>
            </a:r>
            <a:endParaRPr lang="en-IN" b="1" dirty="0"/>
          </a:p>
          <a:p>
            <a:pPr algn="ctr"/>
            <a:endParaRPr lang="en-IN" b="1" dirty="0"/>
          </a:p>
        </p:txBody>
      </p:sp>
      <p:sp>
        <p:nvSpPr>
          <p:cNvPr id="18" name="Oval 17"/>
          <p:cNvSpPr/>
          <p:nvPr/>
        </p:nvSpPr>
        <p:spPr>
          <a:xfrm>
            <a:off x="5243016" y="3691479"/>
            <a:ext cx="1124607" cy="11080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Local </a:t>
            </a:r>
          </a:p>
          <a:p>
            <a:pPr algn="ctr"/>
            <a:r>
              <a:rPr lang="en-US" b="1" dirty="0" smtClean="0"/>
              <a:t>SEO</a:t>
            </a:r>
            <a:endParaRPr lang="en-IN" b="1" dirty="0"/>
          </a:p>
        </p:txBody>
      </p:sp>
      <p:sp>
        <p:nvSpPr>
          <p:cNvPr id="19" name="Oval 18"/>
          <p:cNvSpPr/>
          <p:nvPr/>
        </p:nvSpPr>
        <p:spPr>
          <a:xfrm>
            <a:off x="3526220" y="2624770"/>
            <a:ext cx="1187669" cy="120343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Off-page SEO</a:t>
            </a:r>
            <a:endParaRPr lang="en-IN" b="1" dirty="0"/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4449167" y="2249215"/>
            <a:ext cx="511715" cy="47285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6243144" y="2131607"/>
            <a:ext cx="714704" cy="4931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V="1">
            <a:off x="6345779" y="3539636"/>
            <a:ext cx="661993" cy="5493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4532745" y="3657492"/>
            <a:ext cx="725054" cy="37322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003201" y="2485642"/>
            <a:ext cx="1061545" cy="4414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Social Media</a:t>
            </a:r>
            <a:endParaRPr lang="en-IN" dirty="0"/>
          </a:p>
        </p:txBody>
      </p:sp>
      <p:sp>
        <p:nvSpPr>
          <p:cNvPr id="30" name="Rounded Rectangle 29"/>
          <p:cNvSpPr/>
          <p:nvPr/>
        </p:nvSpPr>
        <p:spPr>
          <a:xfrm>
            <a:off x="2003201" y="3155956"/>
            <a:ext cx="1148159" cy="43872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Link Building</a:t>
            </a:r>
            <a:endParaRPr lang="en-IN" dirty="0"/>
          </a:p>
        </p:txBody>
      </p:sp>
      <p:sp>
        <p:nvSpPr>
          <p:cNvPr id="36" name="Rounded Rectangle 35"/>
          <p:cNvSpPr/>
          <p:nvPr/>
        </p:nvSpPr>
        <p:spPr>
          <a:xfrm>
            <a:off x="6676774" y="4687614"/>
            <a:ext cx="1731501" cy="45588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Directory Submission</a:t>
            </a:r>
            <a:endParaRPr lang="en-IN" dirty="0"/>
          </a:p>
        </p:txBody>
      </p:sp>
      <p:sp>
        <p:nvSpPr>
          <p:cNvPr id="37" name="Rounded Rectangle 36"/>
          <p:cNvSpPr/>
          <p:nvPr/>
        </p:nvSpPr>
        <p:spPr>
          <a:xfrm>
            <a:off x="8061434" y="2427889"/>
            <a:ext cx="1082566" cy="52714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Site Speed</a:t>
            </a:r>
            <a:endParaRPr lang="en-IN" dirty="0"/>
          </a:p>
        </p:txBody>
      </p:sp>
      <p:sp>
        <p:nvSpPr>
          <p:cNvPr id="38" name="Rounded Rectangle 37"/>
          <p:cNvSpPr/>
          <p:nvPr/>
        </p:nvSpPr>
        <p:spPr>
          <a:xfrm>
            <a:off x="8056179" y="3171585"/>
            <a:ext cx="1087821" cy="51989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Meta Data</a:t>
            </a:r>
            <a:endParaRPr lang="en-IN" dirty="0"/>
          </a:p>
        </p:txBody>
      </p:sp>
      <p:sp>
        <p:nvSpPr>
          <p:cNvPr id="39" name="Rounded Rectangle 38"/>
          <p:cNvSpPr/>
          <p:nvPr/>
        </p:nvSpPr>
        <p:spPr>
          <a:xfrm>
            <a:off x="6463862" y="1216742"/>
            <a:ext cx="1592317" cy="73644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Identify the terms for search</a:t>
            </a:r>
            <a:endParaRPr lang="en-IN" dirty="0"/>
          </a:p>
        </p:txBody>
      </p:sp>
      <p:cxnSp>
        <p:nvCxnSpPr>
          <p:cNvPr id="42" name="Straight Connector 41"/>
          <p:cNvCxnSpPr>
            <a:stCxn id="29" idx="3"/>
          </p:cNvCxnSpPr>
          <p:nvPr/>
        </p:nvCxnSpPr>
        <p:spPr>
          <a:xfrm>
            <a:off x="3064746" y="2706360"/>
            <a:ext cx="540302" cy="2207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endCxn id="19" idx="2"/>
          </p:cNvCxnSpPr>
          <p:nvPr/>
        </p:nvCxnSpPr>
        <p:spPr>
          <a:xfrm flipV="1">
            <a:off x="3092004" y="3226488"/>
            <a:ext cx="434216" cy="3131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6149016" y="1470734"/>
            <a:ext cx="379301" cy="1135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endCxn id="37" idx="1"/>
          </p:cNvCxnSpPr>
          <p:nvPr/>
        </p:nvCxnSpPr>
        <p:spPr>
          <a:xfrm flipV="1">
            <a:off x="7776395" y="2691460"/>
            <a:ext cx="285039" cy="85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endCxn id="38" idx="1"/>
          </p:cNvCxnSpPr>
          <p:nvPr/>
        </p:nvCxnSpPr>
        <p:spPr>
          <a:xfrm>
            <a:off x="7840087" y="3381906"/>
            <a:ext cx="216092" cy="496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6345779" y="4456386"/>
            <a:ext cx="365076" cy="2312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792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SEO Components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1" y="1450428"/>
            <a:ext cx="7357240" cy="292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3877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Working of </a:t>
            </a:r>
            <a:r>
              <a:rPr lang="en-IN" b="1" dirty="0" err="1" smtClean="0"/>
              <a:t>Agos</a:t>
            </a:r>
            <a:r>
              <a:rPr lang="en-IN" b="1" dirty="0" smtClean="0"/>
              <a:t> Tool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2362" y="1211855"/>
            <a:ext cx="5464366" cy="3536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9333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FollowerWonk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 smtClean="0"/>
              <a:t>Follower wonk </a:t>
            </a:r>
            <a:r>
              <a:rPr lang="en-US" b="1" dirty="0"/>
              <a:t>allows insights into Twitter </a:t>
            </a:r>
            <a:r>
              <a:rPr lang="en-US" b="1" dirty="0" smtClean="0"/>
              <a:t>data.</a:t>
            </a:r>
          </a:p>
          <a:p>
            <a:pPr algn="just"/>
            <a:r>
              <a:rPr lang="en-US" b="1" dirty="0" smtClean="0"/>
              <a:t>users </a:t>
            </a:r>
            <a:r>
              <a:rPr lang="en-US" b="1" dirty="0"/>
              <a:t>can identify brand influencers, widen reach, breakdown followers using social authority and enhance follower engagement. </a:t>
            </a:r>
            <a:endParaRPr lang="en-US" b="1" dirty="0" smtClean="0"/>
          </a:p>
          <a:p>
            <a:pPr algn="just"/>
            <a:r>
              <a:rPr lang="en-US" b="1" dirty="0" smtClean="0"/>
              <a:t>Keywords </a:t>
            </a:r>
            <a:r>
              <a:rPr lang="en-US" b="1" dirty="0"/>
              <a:t>can be used to search Twitter users and compared against metrics such as reach, influence, </a:t>
            </a:r>
            <a:r>
              <a:rPr lang="en-US" b="1" dirty="0" smtClean="0"/>
              <a:t>age.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1525979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Working of </a:t>
            </a:r>
            <a:r>
              <a:rPr lang="en-IN" b="1" dirty="0" err="1" smtClean="0"/>
              <a:t>FollowerWonk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434" y="1615845"/>
            <a:ext cx="3381375" cy="286801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5904" y="1697304"/>
            <a:ext cx="4889890" cy="2786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4568424"/>
            <a:ext cx="35558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smtClean="0"/>
              <a:t>Identification of  Network Density</a:t>
            </a:r>
            <a:endParaRPr lang="en-IN" b="1" dirty="0"/>
          </a:p>
        </p:txBody>
      </p:sp>
      <p:sp>
        <p:nvSpPr>
          <p:cNvPr id="7" name="Rectangle 6"/>
          <p:cNvSpPr/>
          <p:nvPr/>
        </p:nvSpPr>
        <p:spPr>
          <a:xfrm>
            <a:off x="4909378" y="4568424"/>
            <a:ext cx="28354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 smtClean="0"/>
              <a:t>Statistical Plotting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833958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0"/>
            <a:ext cx="8259098" cy="987863"/>
          </a:xfrm>
        </p:spPr>
        <p:txBody>
          <a:bodyPr/>
          <a:lstStyle/>
          <a:p>
            <a:r>
              <a:rPr lang="en-IN" b="1" dirty="0" err="1" smtClean="0"/>
              <a:t>Trendsmap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 err="1"/>
              <a:t>Trendsmap</a:t>
            </a:r>
            <a:r>
              <a:rPr lang="en-US" b="1" dirty="0"/>
              <a:t> is a Twitter trend tracking service that sticks tweets onto an interactive map. </a:t>
            </a:r>
            <a:endParaRPr lang="en-US" b="1" dirty="0" smtClean="0"/>
          </a:p>
          <a:p>
            <a:pPr algn="just"/>
            <a:r>
              <a:rPr lang="en-US" b="1" dirty="0" smtClean="0"/>
              <a:t>It </a:t>
            </a:r>
            <a:r>
              <a:rPr lang="en-US" b="1" dirty="0"/>
              <a:t>then sticks it onto a Google Map where users can sort by city or general region and see trending topics in real-time. </a:t>
            </a:r>
            <a:endParaRPr lang="en-US" b="1" dirty="0" smtClean="0"/>
          </a:p>
          <a:p>
            <a:pPr algn="just"/>
            <a:r>
              <a:rPr lang="en-US" b="1" dirty="0" smtClean="0"/>
              <a:t>It </a:t>
            </a:r>
            <a:r>
              <a:rPr lang="en-US" b="1" dirty="0"/>
              <a:t>offers real-time geographic visualization for emerging Twitter trends.</a:t>
            </a:r>
          </a:p>
          <a:p>
            <a:pPr algn="just"/>
            <a:r>
              <a:rPr lang="en-US" b="1" dirty="0" err="1"/>
              <a:t>Trendsmap</a:t>
            </a:r>
            <a:r>
              <a:rPr lang="en-US" b="1" dirty="0"/>
              <a:t> allows visitors to view the most often used words in current Twitter posts from a global </a:t>
            </a:r>
            <a:r>
              <a:rPr lang="en-US" b="1" dirty="0" smtClean="0"/>
              <a:t>perspective.</a:t>
            </a:r>
            <a:endParaRPr lang="en-US" b="1" dirty="0"/>
          </a:p>
          <a:p>
            <a:pPr marL="0" indent="0" algn="just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5027899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0"/>
            <a:ext cx="8580186" cy="987863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 smtClean="0"/>
              <a:t>                                                      </a:t>
            </a:r>
            <a:r>
              <a:rPr lang="en-IN" sz="4000" b="1" dirty="0" smtClean="0"/>
              <a:t>Search Engine</a:t>
            </a:r>
            <a:br>
              <a:rPr lang="en-IN" sz="4000" b="1" dirty="0" smtClean="0"/>
            </a:br>
            <a:r>
              <a:rPr lang="en-IN" sz="4000" b="1" dirty="0" smtClean="0"/>
              <a:t>                                                Analytic Tools    </a:t>
            </a:r>
            <a:endParaRPr lang="en-IN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600" b="1" dirty="0" smtClean="0"/>
              <a:t>Canopy</a:t>
            </a:r>
          </a:p>
          <a:p>
            <a:r>
              <a:rPr lang="en-IN" sz="3600" b="1" dirty="0" err="1" smtClean="0"/>
              <a:t>IceRocket</a:t>
            </a:r>
            <a:endParaRPr lang="en-IN" sz="3600" b="1" dirty="0"/>
          </a:p>
        </p:txBody>
      </p:sp>
    </p:spTree>
    <p:extLst>
      <p:ext uri="{BB962C8B-B14F-4D97-AF65-F5344CB8AC3E}">
        <p14:creationId xmlns:p14="http://schemas.microsoft.com/office/powerpoint/2010/main" val="7278685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 smtClean="0"/>
              <a:t>Canopy</a:t>
            </a:r>
            <a:endParaRPr lang="en-IN" sz="4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Canopy collects and controls data from </a:t>
            </a:r>
            <a:r>
              <a:rPr lang="en-US" b="1" dirty="0" err="1"/>
              <a:t>IoT</a:t>
            </a:r>
            <a:r>
              <a:rPr lang="en-US" b="1" dirty="0"/>
              <a:t> and connected devices using a single control plane</a:t>
            </a:r>
            <a:r>
              <a:rPr lang="en-US" b="1" dirty="0" smtClean="0"/>
              <a:t>.</a:t>
            </a:r>
          </a:p>
          <a:p>
            <a:pPr marL="0" indent="0" algn="just">
              <a:buNone/>
            </a:pPr>
            <a:r>
              <a:rPr lang="en-US" b="1" dirty="0" smtClean="0"/>
              <a:t> </a:t>
            </a:r>
          </a:p>
          <a:p>
            <a:pPr algn="just"/>
            <a:r>
              <a:rPr lang="en-US" b="1" dirty="0" smtClean="0"/>
              <a:t>Data </a:t>
            </a:r>
            <a:r>
              <a:rPr lang="en-US" b="1" dirty="0"/>
              <a:t>is aggregated, unified, visible and usable.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72855141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Working of Canopy Tool</a:t>
            </a:r>
            <a:endParaRPr lang="en-IN" b="1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2530" y="1333041"/>
            <a:ext cx="5783856" cy="356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3724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Canopy EDW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5586" y="1216025"/>
            <a:ext cx="6764356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4130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0304" y="224337"/>
            <a:ext cx="3975490" cy="763526"/>
          </a:xfrm>
        </p:spPr>
        <p:txBody>
          <a:bodyPr>
            <a:noAutofit/>
          </a:bodyPr>
          <a:lstStyle/>
          <a:p>
            <a:pPr algn="l"/>
            <a:r>
              <a:rPr lang="en-IN" b="1" dirty="0" smtClean="0"/>
              <a:t> Canopy </a:t>
            </a:r>
            <a:br>
              <a:rPr lang="en-IN" b="1" dirty="0" smtClean="0"/>
            </a:br>
            <a:r>
              <a:rPr lang="en-IN" b="1" dirty="0" smtClean="0"/>
              <a:t>Working Schematic 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304" y="1216025"/>
            <a:ext cx="8449937" cy="35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56260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 smtClean="0"/>
              <a:t>IceRocket</a:t>
            </a:r>
            <a:r>
              <a:rPr lang="en-IN" b="1" dirty="0" smtClean="0"/>
              <a:t> SEA Tool</a:t>
            </a:r>
            <a:endParaRPr lang="en-IN" b="1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3637" y="2467769"/>
            <a:ext cx="4276725" cy="10668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637" y="2038350"/>
            <a:ext cx="4276725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54344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IN" b="1" dirty="0" smtClean="0"/>
              <a:t>                                                        Online </a:t>
            </a:r>
            <a:br>
              <a:rPr lang="en-IN" b="1" dirty="0" smtClean="0"/>
            </a:br>
            <a:r>
              <a:rPr lang="en-IN" b="1" dirty="0"/>
              <a:t> </a:t>
            </a:r>
            <a:r>
              <a:rPr lang="en-IN" b="1" dirty="0" smtClean="0"/>
              <a:t>                                        Reputation Management 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8974" y="1410159"/>
            <a:ext cx="5816906" cy="258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92548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6" y="224337"/>
            <a:ext cx="8801408" cy="763526"/>
          </a:xfrm>
        </p:spPr>
        <p:txBody>
          <a:bodyPr/>
          <a:lstStyle/>
          <a:p>
            <a:r>
              <a:rPr lang="en-IN" b="1" dirty="0" err="1" smtClean="0"/>
              <a:t>TweetBeep</a:t>
            </a:r>
            <a:endParaRPr lang="en-IN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83543" y="1410159"/>
            <a:ext cx="2943625" cy="2743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86438" y="1606665"/>
            <a:ext cx="545334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Using Tweet beep you can get all such updates (known as </a:t>
            </a:r>
            <a:r>
              <a:rPr lang="en-US" b="1" dirty="0" err="1"/>
              <a:t>TweetBeep</a:t>
            </a:r>
            <a:r>
              <a:rPr lang="en-US" b="1" dirty="0"/>
              <a:t> alerts or Twitter alerts) to email every hour of the </a:t>
            </a:r>
            <a:r>
              <a:rPr lang="en-US" b="1" dirty="0" smtClean="0"/>
              <a:t>day.</a:t>
            </a:r>
          </a:p>
          <a:p>
            <a:pPr algn="just"/>
            <a:endParaRPr lang="en-US" b="1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 smtClean="0"/>
              <a:t>Also, we  </a:t>
            </a:r>
            <a:r>
              <a:rPr lang="en-US" b="1" dirty="0"/>
              <a:t>are even provided with information on people tweeting about you</a:t>
            </a:r>
            <a:r>
              <a:rPr lang="en-US" b="1" dirty="0" smtClean="0"/>
              <a:t>.</a:t>
            </a:r>
          </a:p>
          <a:p>
            <a:pPr algn="just"/>
            <a:endParaRPr lang="en-US" b="1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 smtClean="0"/>
              <a:t> </a:t>
            </a:r>
            <a:r>
              <a:rPr lang="en-US" b="1" dirty="0"/>
              <a:t>This information can be extracted even if the person is using a shortened URL (using tools like Tinyurl.com or bit.ly) to hide the identity your website or blog.</a:t>
            </a:r>
          </a:p>
          <a:p>
            <a:pPr algn="just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8709597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Search Engine Mapping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9160" y="1370013"/>
            <a:ext cx="4485679" cy="326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28975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Dual Bar Graph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422" y="1399142"/>
            <a:ext cx="3228687" cy="31728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7020" y="1923532"/>
            <a:ext cx="3433934" cy="2857788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3613533" y="2963537"/>
            <a:ext cx="1255922" cy="8372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7020" y="1399142"/>
            <a:ext cx="3988106" cy="3439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40465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IN" sz="4800" b="1" dirty="0" smtClean="0"/>
          </a:p>
          <a:p>
            <a:pPr marL="0" indent="0" algn="ctr">
              <a:buNone/>
            </a:pPr>
            <a:r>
              <a:rPr lang="en-IN" sz="4800" b="1" dirty="0" err="1" smtClean="0"/>
              <a:t>Querries</a:t>
            </a:r>
            <a:r>
              <a:rPr lang="en-IN" sz="4800" b="1" dirty="0" smtClean="0"/>
              <a:t>????</a:t>
            </a:r>
            <a:endParaRPr lang="en-IN" sz="4800" b="1" dirty="0"/>
          </a:p>
        </p:txBody>
      </p:sp>
    </p:spTree>
    <p:extLst>
      <p:ext uri="{BB962C8B-B14F-4D97-AF65-F5344CB8AC3E}">
        <p14:creationId xmlns:p14="http://schemas.microsoft.com/office/powerpoint/2010/main" val="2946254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2379</Words>
  <Application>Microsoft Office PowerPoint</Application>
  <PresentationFormat>On-screen Show (16:9)</PresentationFormat>
  <Paragraphs>270</Paragraphs>
  <Slides>59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5" baseType="lpstr">
      <vt:lpstr>Arial</vt:lpstr>
      <vt:lpstr>Calibri</vt:lpstr>
      <vt:lpstr>Calibri Light</vt:lpstr>
      <vt:lpstr>Roboto</vt:lpstr>
      <vt:lpstr>Times New Roman</vt:lpstr>
      <vt:lpstr>Office Theme</vt:lpstr>
      <vt:lpstr>            CO 4 SOCIAL MEDIA LOCATION &amp; SEARCH ENGINE ANALYTICS</vt:lpstr>
      <vt:lpstr>LOCATION ANALYTICS OUTLINE</vt:lpstr>
      <vt:lpstr>SEARCH ENGINE ANALYTICS OUTLINE</vt:lpstr>
      <vt:lpstr>Sources of Location Data</vt:lpstr>
      <vt:lpstr>Location Analytics</vt:lpstr>
      <vt:lpstr>Categories of Location Analytics</vt:lpstr>
      <vt:lpstr>Business Driven Location Analytics</vt:lpstr>
      <vt:lpstr>Revision</vt:lpstr>
      <vt:lpstr>                                                      Applications of        Business Data Driven       Location Analytics </vt:lpstr>
      <vt:lpstr>Example of a Heat Map</vt:lpstr>
      <vt:lpstr> Popular HeatMap Softwares</vt:lpstr>
      <vt:lpstr>Applications</vt:lpstr>
      <vt:lpstr>Google-Fusion Tables</vt:lpstr>
      <vt:lpstr>Google-Fusion Tables</vt:lpstr>
      <vt:lpstr>            Social Media Data Driven  Location Analytics </vt:lpstr>
      <vt:lpstr>Privacy Concerns</vt:lpstr>
      <vt:lpstr>Location Analytics Tools</vt:lpstr>
      <vt:lpstr>Questions</vt:lpstr>
      <vt:lpstr>Search Engines</vt:lpstr>
      <vt:lpstr>Types of Search Engine</vt:lpstr>
      <vt:lpstr>    Crawler based Search Engine</vt:lpstr>
      <vt:lpstr>Directories</vt:lpstr>
      <vt:lpstr>Meta Search</vt:lpstr>
      <vt:lpstr>Search Engine Analytics</vt:lpstr>
      <vt:lpstr>    Search Engine Optimization</vt:lpstr>
      <vt:lpstr>Search Trends Analysis </vt:lpstr>
      <vt:lpstr>Search Trends Analysis</vt:lpstr>
      <vt:lpstr>      Search Engine Analytics Tools        </vt:lpstr>
      <vt:lpstr>Google Trends</vt:lpstr>
      <vt:lpstr>                                                  Type of Analytics                                                      Provided by Google Trends</vt:lpstr>
      <vt:lpstr>Regional Interest</vt:lpstr>
      <vt:lpstr>                                          Understanding the Research                                                  Function</vt:lpstr>
      <vt:lpstr>Grouping Search Term</vt:lpstr>
      <vt:lpstr>Customizing the Search</vt:lpstr>
      <vt:lpstr>Wolfram Alpha</vt:lpstr>
      <vt:lpstr>Wolfram Alpha Plotting</vt:lpstr>
      <vt:lpstr>Wolfram Alpha Plotting</vt:lpstr>
      <vt:lpstr>Schematic of Wolfram Alpha  Working </vt:lpstr>
      <vt:lpstr>Questions</vt:lpstr>
      <vt:lpstr>Supportive Case Study</vt:lpstr>
      <vt:lpstr>                                               Steps in                                                Location Analytics</vt:lpstr>
      <vt:lpstr>                                                                                                              Steps in SEO                                             (Search Engine Optimization)</vt:lpstr>
      <vt:lpstr> Components in SEO</vt:lpstr>
      <vt:lpstr>SEO Components</vt:lpstr>
      <vt:lpstr>Working of Agos Tool</vt:lpstr>
      <vt:lpstr>FollowerWonk</vt:lpstr>
      <vt:lpstr>Working of FollowerWonk</vt:lpstr>
      <vt:lpstr>Trendsmap</vt:lpstr>
      <vt:lpstr>                                                      Search Engine                                                 Analytic Tools    </vt:lpstr>
      <vt:lpstr>Canopy</vt:lpstr>
      <vt:lpstr>Working of Canopy Tool</vt:lpstr>
      <vt:lpstr>Canopy EDW</vt:lpstr>
      <vt:lpstr> Canopy  Working Schematic </vt:lpstr>
      <vt:lpstr>IceRocket SEA Tool</vt:lpstr>
      <vt:lpstr>                                                        Online                                           Reputation Management </vt:lpstr>
      <vt:lpstr>TweetBeep</vt:lpstr>
      <vt:lpstr>Search Engine Mapping</vt:lpstr>
      <vt:lpstr>Dual Bar Graph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2017-08-01T15:40:51Z</dcterms:created>
  <dcterms:modified xsi:type="dcterms:W3CDTF">2026-03-16T07:43:59Z</dcterms:modified>
</cp:coreProperties>
</file>