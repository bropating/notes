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48676-1739-4C10-BF2F-C038ADACECF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3576-28AC-4854-BF42-DF3D9125A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784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48676-1739-4C10-BF2F-C038ADACECF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3576-28AC-4854-BF42-DF3D9125A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800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48676-1739-4C10-BF2F-C038ADACECF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3576-28AC-4854-BF42-DF3D9125A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191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48676-1739-4C10-BF2F-C038ADACECF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3576-28AC-4854-BF42-DF3D9125A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35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48676-1739-4C10-BF2F-C038ADACECF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3576-28AC-4854-BF42-DF3D9125A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112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48676-1739-4C10-BF2F-C038ADACECF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3576-28AC-4854-BF42-DF3D9125A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899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48676-1739-4C10-BF2F-C038ADACECF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3576-28AC-4854-BF42-DF3D9125A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328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48676-1739-4C10-BF2F-C038ADACECF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3576-28AC-4854-BF42-DF3D9125A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1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48676-1739-4C10-BF2F-C038ADACECF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3576-28AC-4854-BF42-DF3D9125A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982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48676-1739-4C10-BF2F-C038ADACECF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3576-28AC-4854-BF42-DF3D9125A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667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48676-1739-4C10-BF2F-C038ADACECF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A3576-28AC-4854-BF42-DF3D9125A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06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48676-1739-4C10-BF2F-C038ADACECF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A3576-28AC-4854-BF42-DF3D9125A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406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Chapter 5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Social Information Filtering</a:t>
            </a:r>
          </a:p>
          <a:p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958352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Reach &amp; Awareness KPIs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99654" y="1690688"/>
            <a:ext cx="1031885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Reach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Number of unique users who saw your post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Impressions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Total times your content was displayed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Follower Growth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Increase in followers over time </a:t>
            </a:r>
          </a:p>
        </p:txBody>
      </p:sp>
    </p:spTree>
    <p:extLst>
      <p:ext uri="{BB962C8B-B14F-4D97-AF65-F5344CB8AC3E}">
        <p14:creationId xmlns:p14="http://schemas.microsoft.com/office/powerpoint/2010/main" val="441532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Engagement KPIs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1069760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Likes, Comments, Shares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Engagement Rate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(Total Engagement / Total Followers) × 100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Click-through Rate (CTR)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How many clicked your link </a:t>
            </a:r>
          </a:p>
        </p:txBody>
      </p:sp>
    </p:spTree>
    <p:extLst>
      <p:ext uri="{BB962C8B-B14F-4D97-AF65-F5344CB8AC3E}">
        <p14:creationId xmlns:p14="http://schemas.microsoft.com/office/powerpoint/2010/main" val="1039881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Conversion KPIs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13509" y="1690688"/>
            <a:ext cx="9036641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Conversions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Purchases, sign-ups, downloads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Conversion Rate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(Conversions / Total Clicks) × 100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 per Conversion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(if running ads) </a:t>
            </a:r>
          </a:p>
        </p:txBody>
      </p:sp>
    </p:spTree>
    <p:extLst>
      <p:ext uri="{BB962C8B-B14F-4D97-AF65-F5344CB8AC3E}">
        <p14:creationId xmlns:p14="http://schemas.microsoft.com/office/powerpoint/2010/main" val="1541583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Customer Satisfaction KPIs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91836" y="1904932"/>
            <a:ext cx="1151199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Response Time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How quickly you reply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Feedback / Ratings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Sentiment Analysis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Positive or negative comments </a:t>
            </a:r>
          </a:p>
        </p:txBody>
      </p:sp>
    </p:spTree>
    <p:extLst>
      <p:ext uri="{BB962C8B-B14F-4D97-AF65-F5344CB8AC3E}">
        <p14:creationId xmlns:p14="http://schemas.microsoft.com/office/powerpoint/2010/main" val="3559953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Traffic KPIs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946496"/>
            <a:ext cx="852848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Website Traffic from Social Media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Bounce Rate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Users leaving quickly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Session Duration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Time spent on site </a:t>
            </a:r>
          </a:p>
        </p:txBody>
      </p:sp>
    </p:spTree>
    <p:extLst>
      <p:ext uri="{BB962C8B-B14F-4D97-AF65-F5344CB8AC3E}">
        <p14:creationId xmlns:p14="http://schemas.microsoft.com/office/powerpoint/2010/main" val="1525642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Video Performance KPIs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Views</a:t>
            </a:r>
            <a:r>
              <a:rPr lang="en-US" dirty="0" smtClean="0"/>
              <a:t> </a:t>
            </a:r>
          </a:p>
          <a:p>
            <a:r>
              <a:rPr lang="en-US" b="1" dirty="0" smtClean="0"/>
              <a:t>Watch Time</a:t>
            </a:r>
            <a:r>
              <a:rPr lang="en-US" dirty="0" smtClean="0"/>
              <a:t> </a:t>
            </a:r>
          </a:p>
          <a:p>
            <a:r>
              <a:rPr lang="en-US" b="1" dirty="0" smtClean="0"/>
              <a:t>Completion Rate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036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 post was shown 8,000 times, but only 5,000 unique users saw it.</a:t>
            </a:r>
            <a:br>
              <a:rPr lang="en-US" dirty="0" smtClean="0"/>
            </a:br>
            <a:r>
              <a:rPr lang="en-US" dirty="0" smtClean="0"/>
              <a:t>Find:</a:t>
            </a:r>
          </a:p>
          <a:p>
            <a:r>
              <a:rPr lang="en-US" dirty="0" smtClean="0"/>
              <a:t>Reach </a:t>
            </a:r>
          </a:p>
          <a:p>
            <a:r>
              <a:rPr lang="en-US" dirty="0" smtClean="0"/>
              <a:t>Impressions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294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Numerical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An Instagram post has:</a:t>
            </a:r>
          </a:p>
          <a:p>
            <a:r>
              <a:rPr lang="en-US" dirty="0" smtClean="0"/>
              <a:t>Likes = 300 </a:t>
            </a:r>
          </a:p>
          <a:p>
            <a:r>
              <a:rPr lang="en-US" dirty="0" smtClean="0"/>
              <a:t>Comments = 50 </a:t>
            </a:r>
          </a:p>
          <a:p>
            <a:r>
              <a:rPr lang="en-US" dirty="0" smtClean="0"/>
              <a:t>Shares = 150 </a:t>
            </a:r>
          </a:p>
          <a:p>
            <a:r>
              <a:rPr lang="en-US" dirty="0" smtClean="0"/>
              <a:t>Followers = 2,000 </a:t>
            </a:r>
          </a:p>
          <a:p>
            <a:r>
              <a:rPr lang="en-US" dirty="0" smtClean="0"/>
              <a:t>Find </a:t>
            </a:r>
            <a:r>
              <a:rPr lang="en-US" b="1" dirty="0" smtClean="0"/>
              <a:t>Engagement Rate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00B050"/>
                </a:solidFill>
              </a:rPr>
              <a:t>Engagement Rate = (Total Engagement / Followers) × 100</a:t>
            </a:r>
            <a:endParaRPr 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0664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Numerical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9873" y="195031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A post received 10,000 impressions and 800 clicks.</a:t>
            </a:r>
            <a:br>
              <a:rPr lang="en-US" dirty="0" smtClean="0"/>
            </a:br>
            <a:r>
              <a:rPr lang="en-US" dirty="0" smtClean="0"/>
              <a:t>Find CTR.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 smtClean="0"/>
              <a:t>Formula: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00B050"/>
                </a:solidFill>
              </a:rPr>
              <a:t>CTR = (Clicks / Impressions) × 100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695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Numerical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Out of 500 users who clicked a link, 50 made a purchase.</a:t>
            </a:r>
            <a:br>
              <a:rPr lang="en-US" dirty="0" smtClean="0"/>
            </a:br>
            <a:r>
              <a:rPr lang="en-US" dirty="0" smtClean="0"/>
              <a:t>Find </a:t>
            </a:r>
            <a:r>
              <a:rPr lang="en-US" b="1" dirty="0" smtClean="0"/>
              <a:t>Conversion Rate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 smtClean="0"/>
              <a:t> </a:t>
            </a:r>
          </a:p>
          <a:p>
            <a:pPr marL="0" indent="0">
              <a:buNone/>
            </a:pPr>
            <a:r>
              <a:rPr lang="en-US" b="1" dirty="0" smtClean="0"/>
              <a:t>Formula: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00B050"/>
                </a:solidFill>
              </a:rPr>
              <a:t>Conversion Rate = (Conversions / Clicks) × 100</a:t>
            </a:r>
            <a:endParaRPr 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2288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Numerical 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You spent ₹5,000 on ads and got 100 conversions.</a:t>
            </a:r>
            <a:br>
              <a:rPr lang="en-US" dirty="0" smtClean="0"/>
            </a:br>
            <a:r>
              <a:rPr lang="en-US" dirty="0" smtClean="0"/>
              <a:t>Find cost per conversion.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>
                <a:solidFill>
                  <a:srgbClr val="00B050"/>
                </a:solidFill>
              </a:rPr>
              <a:t>Cost per Conversion = Total Cost / Conversions</a:t>
            </a:r>
            <a:endParaRPr 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001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Numerical 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 page had 2,000 followers at the start and 2,500 at the end of the month.</a:t>
            </a:r>
            <a:br>
              <a:rPr lang="en-US" dirty="0" smtClean="0"/>
            </a:br>
            <a:r>
              <a:rPr lang="en-US" dirty="0" smtClean="0"/>
              <a:t>Find growth rate.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>
                <a:solidFill>
                  <a:srgbClr val="00B050"/>
                </a:solidFill>
              </a:rPr>
              <a:t>Growth Rate = (New Followers / Initial Followers) × 100</a:t>
            </a:r>
            <a:endParaRPr 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906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Numerical 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Out of 1,000 visitors from social media, 400 leave immediately.</a:t>
            </a:r>
            <a:br>
              <a:rPr lang="en-US" dirty="0" smtClean="0"/>
            </a:br>
            <a:r>
              <a:rPr lang="en-US" dirty="0" smtClean="0"/>
              <a:t>Find </a:t>
            </a:r>
            <a:r>
              <a:rPr lang="en-US" b="1" dirty="0" smtClean="0"/>
              <a:t>Bounce Rate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>
                <a:solidFill>
                  <a:srgbClr val="00B050"/>
                </a:solidFill>
              </a:rPr>
              <a:t>Bounce Rate = (Users who left / Total visitors) × 100</a:t>
            </a:r>
            <a:endParaRPr 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6290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Numerical 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video was watched by 2,000 users. Out of these, 1,200 watched till the end. Find </a:t>
            </a:r>
            <a:r>
              <a:rPr lang="en-US" b="1" dirty="0" smtClean="0"/>
              <a:t>Completion Rate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 smtClean="0">
                <a:solidFill>
                  <a:srgbClr val="00B050"/>
                </a:solidFill>
              </a:rPr>
              <a:t>Completion Rate = (Completed Views / Total Views) × 100</a:t>
            </a:r>
            <a:endParaRPr 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0847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Scenario 1: Instagram Business Page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A clothing brand posts a reel:</a:t>
            </a:r>
          </a:p>
          <a:p>
            <a:r>
              <a:rPr lang="en-US" dirty="0" smtClean="0"/>
              <a:t>Impressions = 12,000 </a:t>
            </a:r>
          </a:p>
          <a:p>
            <a:r>
              <a:rPr lang="en-US" dirty="0" smtClean="0"/>
              <a:t>Reach = 8,000 </a:t>
            </a:r>
          </a:p>
          <a:p>
            <a:r>
              <a:rPr lang="en-US" dirty="0" smtClean="0"/>
              <a:t>Likes = 600 </a:t>
            </a:r>
          </a:p>
          <a:p>
            <a:r>
              <a:rPr lang="en-US" dirty="0" smtClean="0"/>
              <a:t>Comments = 200 </a:t>
            </a:r>
          </a:p>
          <a:p>
            <a:r>
              <a:rPr lang="en-US" dirty="0" smtClean="0"/>
              <a:t>Shares = 200 </a:t>
            </a:r>
          </a:p>
          <a:p>
            <a:r>
              <a:rPr lang="en-US" dirty="0" smtClean="0"/>
              <a:t>Followers = 4,000 </a:t>
            </a:r>
          </a:p>
          <a:p>
            <a:pPr marL="0" indent="0">
              <a:buNone/>
            </a:pPr>
            <a:r>
              <a:rPr lang="en-US" dirty="0" smtClean="0"/>
              <a:t>Find:</a:t>
            </a:r>
          </a:p>
          <a:p>
            <a:r>
              <a:rPr lang="en-US" dirty="0" smtClean="0"/>
              <a:t>Engagement Rate </a:t>
            </a:r>
          </a:p>
          <a:p>
            <a:r>
              <a:rPr lang="en-US" dirty="0" smtClean="0"/>
              <a:t>Difference between Impressions &amp; Reach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136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Scenario 2: Mixed Engagement + Fake Growth Trap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An influencer reports:</a:t>
            </a:r>
          </a:p>
          <a:p>
            <a:r>
              <a:rPr lang="en-US" dirty="0" smtClean="0"/>
              <a:t>Followers = 10,000 </a:t>
            </a:r>
          </a:p>
          <a:p>
            <a:r>
              <a:rPr lang="en-US" dirty="0" smtClean="0"/>
              <a:t>Likes = 800, Comments = 200, Shares = 100 </a:t>
            </a:r>
          </a:p>
          <a:p>
            <a:r>
              <a:rPr lang="en-US" dirty="0" smtClean="0"/>
              <a:t>2,000 new followers gained this month </a:t>
            </a:r>
          </a:p>
          <a:p>
            <a:r>
              <a:rPr lang="en-US" dirty="0" smtClean="0"/>
              <a:t>Out of new followers, 800 are inactive (bots) </a:t>
            </a:r>
          </a:p>
          <a:p>
            <a:pPr marL="0" indent="0">
              <a:buNone/>
            </a:pPr>
            <a:r>
              <a:rPr lang="en-US" b="1" dirty="0" smtClean="0"/>
              <a:t> Find:</a:t>
            </a:r>
          </a:p>
          <a:p>
            <a:r>
              <a:rPr lang="en-US" dirty="0" smtClean="0"/>
              <a:t>Actual Engagement Rate </a:t>
            </a:r>
          </a:p>
          <a:p>
            <a:r>
              <a:rPr lang="en-US" dirty="0" smtClean="0"/>
              <a:t>Real Follower Growth Rate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909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Scenario 3: CTR vs Conversion Confusion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3734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smtClean="0"/>
              <a:t>A company runs 2 ads:</a:t>
            </a:r>
          </a:p>
          <a:p>
            <a:pPr marL="0" indent="0">
              <a:buNone/>
            </a:pPr>
            <a:r>
              <a:rPr lang="en-US" sz="2400" b="1" dirty="0" smtClean="0"/>
              <a:t>Ad A:</a:t>
            </a:r>
          </a:p>
          <a:p>
            <a:r>
              <a:rPr lang="en-US" sz="2400" dirty="0" smtClean="0"/>
              <a:t>Impressions = 50,000 </a:t>
            </a:r>
          </a:p>
          <a:p>
            <a:r>
              <a:rPr lang="en-US" sz="2400" dirty="0" smtClean="0"/>
              <a:t>Clicks = 5,000 </a:t>
            </a:r>
          </a:p>
          <a:p>
            <a:r>
              <a:rPr lang="en-US" sz="2400" dirty="0" smtClean="0"/>
              <a:t>Conversions = 100 </a:t>
            </a:r>
          </a:p>
          <a:p>
            <a:pPr marL="0" indent="0">
              <a:buNone/>
            </a:pPr>
            <a:r>
              <a:rPr lang="en-US" sz="2400" b="1" dirty="0" smtClean="0"/>
              <a:t>Ad B:</a:t>
            </a:r>
          </a:p>
          <a:p>
            <a:r>
              <a:rPr lang="en-US" sz="2400" dirty="0" smtClean="0"/>
              <a:t>Impressions = 20,000 </a:t>
            </a:r>
          </a:p>
          <a:p>
            <a:r>
              <a:rPr lang="en-US" sz="2400" dirty="0" smtClean="0"/>
              <a:t>Clicks = 2,000 </a:t>
            </a:r>
          </a:p>
          <a:p>
            <a:r>
              <a:rPr lang="en-US" sz="2400" dirty="0" smtClean="0"/>
              <a:t>Conversions = 200 </a:t>
            </a:r>
          </a:p>
          <a:p>
            <a:r>
              <a:rPr lang="en-US" sz="2400" b="1" dirty="0" smtClean="0"/>
              <a:t> Find:</a:t>
            </a:r>
          </a:p>
          <a:p>
            <a:r>
              <a:rPr lang="en-US" sz="2400" dirty="0" smtClean="0"/>
              <a:t>CTR for both </a:t>
            </a:r>
          </a:p>
          <a:p>
            <a:r>
              <a:rPr lang="en-US" sz="2400" dirty="0" smtClean="0"/>
              <a:t>Conversion Rate for both, Which ad is better?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0315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Scenario 4: Hidden Bounce Rate Trap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 website shows:</a:t>
            </a:r>
          </a:p>
          <a:p>
            <a:r>
              <a:rPr lang="en-US" dirty="0" smtClean="0"/>
              <a:t>Total visitors = 8,000 </a:t>
            </a:r>
          </a:p>
          <a:p>
            <a:r>
              <a:rPr lang="en-US" dirty="0" smtClean="0"/>
              <a:t>Users who visited only 1 page = 3,200 </a:t>
            </a:r>
          </a:p>
          <a:p>
            <a:r>
              <a:rPr lang="en-US" dirty="0" smtClean="0"/>
              <a:t>Out of remaining users, 50% left within 5 seconds </a:t>
            </a:r>
          </a:p>
          <a:p>
            <a:pPr marL="0" indent="0">
              <a:buNone/>
            </a:pPr>
            <a:r>
              <a:rPr lang="en-US" b="1" dirty="0" smtClean="0"/>
              <a:t> Find:</a:t>
            </a:r>
          </a:p>
          <a:p>
            <a:r>
              <a:rPr lang="en-US" dirty="0" smtClean="0"/>
              <a:t>Bounce Rate </a:t>
            </a:r>
          </a:p>
          <a:p>
            <a:r>
              <a:rPr lang="en-US" dirty="0" smtClean="0"/>
              <a:t>Misleading metric explanation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6183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Scenario 5: Multi-Step Funnel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An Instagram campaign funnel:</a:t>
            </a:r>
          </a:p>
          <a:p>
            <a:r>
              <a:rPr lang="en-US" dirty="0" smtClean="0"/>
              <a:t>Impressions = 1,00,000 </a:t>
            </a:r>
          </a:p>
          <a:p>
            <a:r>
              <a:rPr lang="en-US" dirty="0" smtClean="0"/>
              <a:t>Reach = 60,000 </a:t>
            </a:r>
          </a:p>
          <a:p>
            <a:r>
              <a:rPr lang="en-US" dirty="0" smtClean="0"/>
              <a:t>Clicks = 6,000 </a:t>
            </a:r>
          </a:p>
          <a:p>
            <a:r>
              <a:rPr lang="en-US" dirty="0" smtClean="0"/>
              <a:t>Add to cart = 1,500 </a:t>
            </a:r>
          </a:p>
          <a:p>
            <a:r>
              <a:rPr lang="en-US" dirty="0" smtClean="0"/>
              <a:t>Purchases = 300 </a:t>
            </a:r>
          </a:p>
          <a:p>
            <a:r>
              <a:rPr lang="en-US" dirty="0" smtClean="0"/>
              <a:t>Total cost = ₹60,000</a:t>
            </a:r>
          </a:p>
          <a:p>
            <a:pPr marL="0" indent="0">
              <a:buNone/>
            </a:pPr>
            <a:r>
              <a:rPr lang="en-US" b="1" dirty="0" smtClean="0"/>
              <a:t>Find:</a:t>
            </a:r>
          </a:p>
          <a:p>
            <a:r>
              <a:rPr lang="en-US" dirty="0" smtClean="0"/>
              <a:t>CTR </a:t>
            </a:r>
          </a:p>
          <a:p>
            <a:r>
              <a:rPr lang="en-US" dirty="0" smtClean="0"/>
              <a:t>Conversion Rate (Purchase from Click) </a:t>
            </a:r>
          </a:p>
          <a:p>
            <a:r>
              <a:rPr lang="en-US" dirty="0" smtClean="0"/>
              <a:t>Cart Conversion Rate </a:t>
            </a:r>
          </a:p>
          <a:p>
            <a:r>
              <a:rPr lang="en-US" dirty="0" smtClean="0"/>
              <a:t>Cost per Purchase 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021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537</Words>
  <Application>Microsoft Office PowerPoint</Application>
  <PresentationFormat>Widescreen</PresentationFormat>
  <Paragraphs>120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Chapter 5</vt:lpstr>
      <vt:lpstr>Reach &amp; Awareness KPIs</vt:lpstr>
      <vt:lpstr>Engagement KPIs</vt:lpstr>
      <vt:lpstr>Conversion KPIs</vt:lpstr>
      <vt:lpstr>Customer Satisfaction KPIs</vt:lpstr>
      <vt:lpstr>Traffic KPIs</vt:lpstr>
      <vt:lpstr>Video Performance KPIs </vt:lpstr>
      <vt:lpstr>PowerPoint Presentation</vt:lpstr>
      <vt:lpstr>Numerical 1</vt:lpstr>
      <vt:lpstr>Numerical 2</vt:lpstr>
      <vt:lpstr>Numerical 3</vt:lpstr>
      <vt:lpstr>Numerical 4</vt:lpstr>
      <vt:lpstr>Numerical 5</vt:lpstr>
      <vt:lpstr>Numerical 6</vt:lpstr>
      <vt:lpstr>Numerical 7</vt:lpstr>
      <vt:lpstr>Scenario 1: Instagram Business Page </vt:lpstr>
      <vt:lpstr>Scenario 2: Mixed Engagement + Fake Growth Trap</vt:lpstr>
      <vt:lpstr>Scenario 3: CTR vs Conversion Confusion</vt:lpstr>
      <vt:lpstr>Scenario 4: Hidden Bounce Rate Trap</vt:lpstr>
      <vt:lpstr>Scenario 5: Multi-Step Funnel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</dc:title>
  <dc:creator>Admin</dc:creator>
  <cp:lastModifiedBy>Admin</cp:lastModifiedBy>
  <cp:revision>8</cp:revision>
  <dcterms:created xsi:type="dcterms:W3CDTF">2026-03-25T08:15:28Z</dcterms:created>
  <dcterms:modified xsi:type="dcterms:W3CDTF">2026-03-25T08:36:23Z</dcterms:modified>
</cp:coreProperties>
</file>